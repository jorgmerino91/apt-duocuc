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ghzBzZqGFSJeq2oC/y0PlP9VJ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5668D6-9AE3-477C-AFB1-B542EA2C8E01}">
  <a:tblStyle styleId="{CD5668D6-9AE3-477C-AFB1-B542EA2C8E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L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3" name="Google Shape;47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TitleHD.png" id="16" name="Google Shape;1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0"/>
          <p:cNvSpPr txBox="1"/>
          <p:nvPr>
            <p:ph type="ctrTitle"/>
          </p:nvPr>
        </p:nvSpPr>
        <p:spPr>
          <a:xfrm>
            <a:off x="3962399" y="1964267"/>
            <a:ext cx="7197726" cy="24214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0"/>
          <p:cNvSpPr txBox="1"/>
          <p:nvPr>
            <p:ph idx="1" type="subTitle"/>
          </p:nvPr>
        </p:nvSpPr>
        <p:spPr>
          <a:xfrm>
            <a:off x="3962399" y="4385732"/>
            <a:ext cx="7197726" cy="14054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dk1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1000"/>
              </a:spcAft>
              <a:buSzPts val="12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" name="Google Shape;19;p20"/>
          <p:cNvSpPr txBox="1"/>
          <p:nvPr>
            <p:ph idx="10" type="dt"/>
          </p:nvPr>
        </p:nvSpPr>
        <p:spPr>
          <a:xfrm>
            <a:off x="8932558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0"/>
          <p:cNvSpPr txBox="1"/>
          <p:nvPr>
            <p:ph idx="11" type="ftr"/>
          </p:nvPr>
        </p:nvSpPr>
        <p:spPr>
          <a:xfrm>
            <a:off x="3962399" y="5870575"/>
            <a:ext cx="4893958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0"/>
          <p:cNvSpPr txBox="1"/>
          <p:nvPr>
            <p:ph idx="12" type="sldNum"/>
          </p:nvPr>
        </p:nvSpPr>
        <p:spPr>
          <a:xfrm>
            <a:off x="10608958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23" name="Google Shape;2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22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" type="body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2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2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36" name="Google Shape;36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21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" type="body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1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1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TitleHD.png" id="43" name="Google Shape;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9"/>
          <p:cNvSpPr txBox="1"/>
          <p:nvPr>
            <p:ph type="ctrTitle"/>
          </p:nvPr>
        </p:nvSpPr>
        <p:spPr>
          <a:xfrm>
            <a:off x="3962399" y="1964267"/>
            <a:ext cx="7197726" cy="242146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alibri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1" type="subTitle"/>
          </p:nvPr>
        </p:nvSpPr>
        <p:spPr>
          <a:xfrm>
            <a:off x="3962399" y="4385732"/>
            <a:ext cx="7197726" cy="14054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sz="1800" cap="none">
                <a:solidFill>
                  <a:schemeClr val="lt1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12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1000"/>
              </a:spcBef>
              <a:spcAft>
                <a:spcPts val="1000"/>
              </a:spcAft>
              <a:buSzPts val="12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8932558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962399" y="5870575"/>
            <a:ext cx="4893958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10608958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50" name="Google Shape;50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23"/>
          <p:cNvSpPr txBox="1"/>
          <p:nvPr>
            <p:ph type="title"/>
          </p:nvPr>
        </p:nvSpPr>
        <p:spPr>
          <a:xfrm>
            <a:off x="685800" y="3308581"/>
            <a:ext cx="10131427" cy="146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" type="body"/>
          </p:nvPr>
        </p:nvSpPr>
        <p:spPr>
          <a:xfrm>
            <a:off x="685799" y="4777381"/>
            <a:ext cx="1013142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 cap="none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" name="Google Shape;53;p23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3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57" name="Google Shape;5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4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" type="body"/>
          </p:nvPr>
        </p:nvSpPr>
        <p:spPr>
          <a:xfrm>
            <a:off x="685802" y="2142067"/>
            <a:ext cx="4995334" cy="364913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2" type="body"/>
          </p:nvPr>
        </p:nvSpPr>
        <p:spPr>
          <a:xfrm>
            <a:off x="5821895" y="2142067"/>
            <a:ext cx="4995332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24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4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5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" type="body"/>
          </p:nvPr>
        </p:nvSpPr>
        <p:spPr>
          <a:xfrm>
            <a:off x="973670" y="2218267"/>
            <a:ext cx="4709054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sz="2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7" name="Google Shape;67;p25"/>
          <p:cNvSpPr txBox="1"/>
          <p:nvPr>
            <p:ph idx="2" type="body"/>
          </p:nvPr>
        </p:nvSpPr>
        <p:spPr>
          <a:xfrm>
            <a:off x="685801" y="2870201"/>
            <a:ext cx="4996923" cy="2920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5"/>
          <p:cNvSpPr txBox="1"/>
          <p:nvPr>
            <p:ph idx="3" type="body"/>
          </p:nvPr>
        </p:nvSpPr>
        <p:spPr>
          <a:xfrm>
            <a:off x="6096003" y="2226734"/>
            <a:ext cx="47228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sz="2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9" name="Google Shape;69;p25"/>
          <p:cNvSpPr txBox="1"/>
          <p:nvPr>
            <p:ph idx="4" type="body"/>
          </p:nvPr>
        </p:nvSpPr>
        <p:spPr>
          <a:xfrm>
            <a:off x="5823483" y="2870201"/>
            <a:ext cx="4995334" cy="29209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74" name="Google Shape;74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6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80" name="Google Shape;80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7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85" name="Google Shape;85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28"/>
          <p:cNvSpPr txBox="1"/>
          <p:nvPr>
            <p:ph type="title"/>
          </p:nvPr>
        </p:nvSpPr>
        <p:spPr>
          <a:xfrm>
            <a:off x="685800" y="2074333"/>
            <a:ext cx="368088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8"/>
          <p:cNvSpPr txBox="1"/>
          <p:nvPr>
            <p:ph idx="1" type="body"/>
          </p:nvPr>
        </p:nvSpPr>
        <p:spPr>
          <a:xfrm>
            <a:off x="4648201" y="609601"/>
            <a:ext cx="6169026" cy="5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28"/>
          <p:cNvSpPr txBox="1"/>
          <p:nvPr>
            <p:ph idx="2" type="body"/>
          </p:nvPr>
        </p:nvSpPr>
        <p:spPr>
          <a:xfrm>
            <a:off x="685800" y="3445933"/>
            <a:ext cx="368088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89" name="Google Shape;89;p28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28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8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93" name="Google Shape;93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9"/>
          <p:cNvSpPr txBox="1"/>
          <p:nvPr>
            <p:ph type="title"/>
          </p:nvPr>
        </p:nvSpPr>
        <p:spPr>
          <a:xfrm>
            <a:off x="685800" y="1600200"/>
            <a:ext cx="616465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Calibri"/>
              <a:buNone/>
              <a:defRPr b="0"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9"/>
          <p:cNvSpPr/>
          <p:nvPr>
            <p:ph idx="2" type="pic"/>
          </p:nvPr>
        </p:nvSpPr>
        <p:spPr>
          <a:xfrm>
            <a:off x="7536253" y="914400"/>
            <a:ext cx="3280974" cy="4572000"/>
          </a:xfrm>
          <a:prstGeom prst="roundRect">
            <a:avLst>
              <a:gd fmla="val 42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sp>
      <p:sp>
        <p:nvSpPr>
          <p:cNvPr id="96" name="Google Shape;96;p29"/>
          <p:cNvSpPr txBox="1"/>
          <p:nvPr>
            <p:ph idx="1" type="body"/>
          </p:nvPr>
        </p:nvSpPr>
        <p:spPr>
          <a:xfrm>
            <a:off x="685800" y="2971800"/>
            <a:ext cx="6164653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97" name="Google Shape;97;p29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9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9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panorámica con descripción">
  <p:cSld name="Imagen panorámica con descripción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01" name="Google Shape;10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30"/>
          <p:cNvSpPr txBox="1"/>
          <p:nvPr>
            <p:ph type="title"/>
          </p:nvPr>
        </p:nvSpPr>
        <p:spPr>
          <a:xfrm>
            <a:off x="685800" y="4732865"/>
            <a:ext cx="1013142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alibri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30"/>
          <p:cNvSpPr/>
          <p:nvPr>
            <p:ph idx="2" type="pic"/>
          </p:nvPr>
        </p:nvSpPr>
        <p:spPr>
          <a:xfrm>
            <a:off x="1371600" y="932112"/>
            <a:ext cx="8759827" cy="3164976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sp>
      <p:sp>
        <p:nvSpPr>
          <p:cNvPr id="104" name="Google Shape;104;p30"/>
          <p:cNvSpPr txBox="1"/>
          <p:nvPr>
            <p:ph idx="1" type="body"/>
          </p:nvPr>
        </p:nvSpPr>
        <p:spPr>
          <a:xfrm>
            <a:off x="685800" y="5299603"/>
            <a:ext cx="10131427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105" name="Google Shape;105;p30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30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30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escripción">
  <p:cSld name="Título y descripción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09" name="Google Shape;109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1"/>
          <p:cNvSpPr txBox="1"/>
          <p:nvPr>
            <p:ph type="title"/>
          </p:nvPr>
        </p:nvSpPr>
        <p:spPr>
          <a:xfrm>
            <a:off x="685801" y="609601"/>
            <a:ext cx="10131427" cy="3124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b="0" sz="32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1"/>
          <p:cNvSpPr txBox="1"/>
          <p:nvPr>
            <p:ph idx="1" type="body"/>
          </p:nvPr>
        </p:nvSpPr>
        <p:spPr>
          <a:xfrm>
            <a:off x="685800" y="4343400"/>
            <a:ext cx="10131428" cy="14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2" name="Google Shape;112;p31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31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1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 con descripción">
  <p:cSld name="Cita con descripción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16" name="Google Shape;116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3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alibri"/>
              <a:buNone/>
            </a:pPr>
            <a:r>
              <a:rPr b="0" lang="es-CL" sz="80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18" name="Google Shape;118;p32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alibri"/>
              <a:buNone/>
            </a:pPr>
            <a:r>
              <a:rPr b="0" lang="es-CL" sz="80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endParaRPr/>
          </a:p>
        </p:txBody>
      </p:sp>
      <p:sp>
        <p:nvSpPr>
          <p:cNvPr id="119" name="Google Shape;119;p32"/>
          <p:cNvSpPr txBox="1"/>
          <p:nvPr>
            <p:ph type="title"/>
          </p:nvPr>
        </p:nvSpPr>
        <p:spPr>
          <a:xfrm>
            <a:off x="992267" y="609601"/>
            <a:ext cx="9550399" cy="2743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b="0" sz="320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2"/>
          <p:cNvSpPr txBox="1"/>
          <p:nvPr>
            <p:ph idx="1" type="body"/>
          </p:nvPr>
        </p:nvSpPr>
        <p:spPr>
          <a:xfrm>
            <a:off x="1097875" y="3352800"/>
            <a:ext cx="9339184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800"/>
              <a:buFont typeface="Calibri"/>
              <a:buNone/>
              <a:defRPr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Font typeface="Calibri"/>
              <a:buNone/>
              <a:defRPr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00"/>
              <a:buFont typeface="Calibri"/>
              <a:buNone/>
              <a:defRPr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00"/>
              <a:buFont typeface="Calibri"/>
              <a:buNone/>
              <a:defRPr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00"/>
              <a:buFont typeface="Calibri"/>
              <a:buNone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32"/>
          <p:cNvSpPr txBox="1"/>
          <p:nvPr>
            <p:ph idx="2" type="body"/>
          </p:nvPr>
        </p:nvSpPr>
        <p:spPr>
          <a:xfrm>
            <a:off x="687465" y="4343400"/>
            <a:ext cx="10152367" cy="14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2" name="Google Shape;122;p32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32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32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jeta de nombre">
  <p:cSld name="Tarjeta de nombre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26" name="Google Shape;12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3"/>
          <p:cNvSpPr txBox="1"/>
          <p:nvPr>
            <p:ph type="title"/>
          </p:nvPr>
        </p:nvSpPr>
        <p:spPr>
          <a:xfrm>
            <a:off x="685802" y="3308581"/>
            <a:ext cx="10131425" cy="146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b="0" sz="32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3"/>
          <p:cNvSpPr txBox="1"/>
          <p:nvPr>
            <p:ph idx="1" type="body"/>
          </p:nvPr>
        </p:nvSpPr>
        <p:spPr>
          <a:xfrm>
            <a:off x="685801" y="4777381"/>
            <a:ext cx="10131426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9" name="Google Shape;129;p33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3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33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r la tarjeta de nombre">
  <p:cSld name="Citar la tarjeta de nombre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33" name="Google Shape;133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3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alibri"/>
              <a:buNone/>
            </a:pPr>
            <a:r>
              <a:rPr b="0" lang="es-CL" sz="80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135" name="Google Shape;135;p34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alibri"/>
              <a:buNone/>
            </a:pPr>
            <a:r>
              <a:rPr b="0" lang="es-CL" sz="8000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endParaRPr/>
          </a:p>
        </p:txBody>
      </p:sp>
      <p:sp>
        <p:nvSpPr>
          <p:cNvPr id="136" name="Google Shape;136;p34"/>
          <p:cNvSpPr txBox="1"/>
          <p:nvPr>
            <p:ph type="title"/>
          </p:nvPr>
        </p:nvSpPr>
        <p:spPr>
          <a:xfrm>
            <a:off x="992267" y="609601"/>
            <a:ext cx="9550399" cy="2743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  <a:defRPr b="0" sz="3200" cap="none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4"/>
          <p:cNvSpPr txBox="1"/>
          <p:nvPr>
            <p:ph idx="1" type="body"/>
          </p:nvPr>
        </p:nvSpPr>
        <p:spPr>
          <a:xfrm>
            <a:off x="685800" y="3886200"/>
            <a:ext cx="10135436" cy="889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400"/>
              <a:buNone/>
              <a:defRPr b="0" sz="2400" cap="none">
                <a:solidFill>
                  <a:schemeClr val="lt1"/>
                </a:solidFill>
              </a:defRPr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38" name="Google Shape;138;p34"/>
          <p:cNvSpPr txBox="1"/>
          <p:nvPr>
            <p:ph idx="2" type="body"/>
          </p:nvPr>
        </p:nvSpPr>
        <p:spPr>
          <a:xfrm>
            <a:off x="685799" y="4775200"/>
            <a:ext cx="10135436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9" name="Google Shape;139;p34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34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4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dadero o falso">
  <p:cSld name="Verdadero o falso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43" name="Google Shape;143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35"/>
          <p:cNvSpPr txBox="1"/>
          <p:nvPr>
            <p:ph type="title"/>
          </p:nvPr>
        </p:nvSpPr>
        <p:spPr>
          <a:xfrm>
            <a:off x="685801" y="609601"/>
            <a:ext cx="10131427" cy="2743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5"/>
          <p:cNvSpPr txBox="1"/>
          <p:nvPr>
            <p:ph idx="1" type="body"/>
          </p:nvPr>
        </p:nvSpPr>
        <p:spPr>
          <a:xfrm>
            <a:off x="685801" y="3505200"/>
            <a:ext cx="10131428" cy="8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800"/>
              <a:buNone/>
              <a:defRPr b="0" sz="2800" cap="none">
                <a:solidFill>
                  <a:schemeClr val="lt1"/>
                </a:solidFill>
              </a:defRPr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5"/>
          <p:cNvSpPr txBox="1"/>
          <p:nvPr>
            <p:ph idx="2" type="body"/>
          </p:nvPr>
        </p:nvSpPr>
        <p:spPr>
          <a:xfrm>
            <a:off x="685800" y="4343400"/>
            <a:ext cx="10131428" cy="14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100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7" name="Google Shape;147;p35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5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5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51" name="Google Shape;151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6"/>
          <p:cNvSpPr txBox="1"/>
          <p:nvPr>
            <p:ph idx="1" type="body"/>
          </p:nvPr>
        </p:nvSpPr>
        <p:spPr>
          <a:xfrm rot="5400000">
            <a:off x="3926947" y="-1099079"/>
            <a:ext cx="3649133" cy="10131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36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6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6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  <p:sp>
        <p:nvSpPr>
          <p:cNvPr id="156" name="Google Shape;156;p36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elestia-R1---OverlayContentHD.png" id="158" name="Google Shape;158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37"/>
          <p:cNvSpPr txBox="1"/>
          <p:nvPr>
            <p:ph type="title"/>
          </p:nvPr>
        </p:nvSpPr>
        <p:spPr>
          <a:xfrm rot="5400000">
            <a:off x="7147151" y="2121124"/>
            <a:ext cx="5181601" cy="21585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37"/>
          <p:cNvSpPr txBox="1"/>
          <p:nvPr>
            <p:ph idx="1" type="body"/>
          </p:nvPr>
        </p:nvSpPr>
        <p:spPr>
          <a:xfrm rot="5400000">
            <a:off x="2011058" y="-715658"/>
            <a:ext cx="5181600" cy="78321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1000"/>
              </a:spcBef>
              <a:spcAft>
                <a:spcPts val="100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1" name="Google Shape;161;p37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37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37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3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6.xml"/><Relationship Id="rId19" Type="http://schemas.openxmlformats.org/officeDocument/2006/relationships/theme" Target="../theme/theme3.xml"/><Relationship Id="rId6" Type="http://schemas.openxmlformats.org/officeDocument/2006/relationships/slideLayout" Target="../slideLayouts/slideLayout7.xml"/><Relationship Id="rId1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30200" lvl="1" marL="9144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00" lvl="3" marL="18288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4800" lvl="5" marL="27432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4800" lvl="6" marL="32004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4800" lvl="7" marL="3657600" marR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4800" lvl="8" marL="4114800" marR="0" rtl="0" algn="l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/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b="0" i="0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" type="body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30200" lvl="1" marL="9144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17500" lvl="2" marL="13716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00" lvl="3" marL="18288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4800" lvl="4" marL="22860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4800" lvl="5" marL="27432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4800" lvl="6" marL="32004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4800" lvl="7" marL="3657600" marR="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4800" lvl="8" marL="4114800" marR="0" rtl="0" algn="l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17"/>
          <p:cNvSpPr txBox="1"/>
          <p:nvPr>
            <p:ph idx="10" type="dt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17"/>
          <p:cNvSpPr txBox="1"/>
          <p:nvPr>
            <p:ph idx="11" type="ftr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17"/>
          <p:cNvSpPr txBox="1"/>
          <p:nvPr>
            <p:ph idx="12" type="sldNum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27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image" Target="../media/image22.png"/><Relationship Id="rId13" Type="http://schemas.openxmlformats.org/officeDocument/2006/relationships/image" Target="../media/image36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10.png"/><Relationship Id="rId15" Type="http://schemas.openxmlformats.org/officeDocument/2006/relationships/image" Target="../media/image32.png"/><Relationship Id="rId14" Type="http://schemas.openxmlformats.org/officeDocument/2006/relationships/image" Target="../media/image19.png"/><Relationship Id="rId17" Type="http://schemas.openxmlformats.org/officeDocument/2006/relationships/image" Target="../media/image9.png"/><Relationship Id="rId16" Type="http://schemas.openxmlformats.org/officeDocument/2006/relationships/image" Target="../media/image26.png"/><Relationship Id="rId5" Type="http://schemas.openxmlformats.org/officeDocument/2006/relationships/image" Target="../media/image8.png"/><Relationship Id="rId6" Type="http://schemas.openxmlformats.org/officeDocument/2006/relationships/image" Target="../media/image33.png"/><Relationship Id="rId7" Type="http://schemas.openxmlformats.org/officeDocument/2006/relationships/image" Target="../media/image18.png"/><Relationship Id="rId8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6.png"/><Relationship Id="rId10" Type="http://schemas.openxmlformats.org/officeDocument/2006/relationships/image" Target="../media/image30.png"/><Relationship Id="rId13" Type="http://schemas.openxmlformats.org/officeDocument/2006/relationships/image" Target="../media/image42.png"/><Relationship Id="rId1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21.png"/><Relationship Id="rId9" Type="http://schemas.openxmlformats.org/officeDocument/2006/relationships/image" Target="../media/image34.png"/><Relationship Id="rId15" Type="http://schemas.openxmlformats.org/officeDocument/2006/relationships/image" Target="../media/image40.png"/><Relationship Id="rId14" Type="http://schemas.openxmlformats.org/officeDocument/2006/relationships/image" Target="../media/image31.png"/><Relationship Id="rId17" Type="http://schemas.openxmlformats.org/officeDocument/2006/relationships/image" Target="../media/image53.png"/><Relationship Id="rId16" Type="http://schemas.openxmlformats.org/officeDocument/2006/relationships/image" Target="../media/image35.png"/><Relationship Id="rId5" Type="http://schemas.openxmlformats.org/officeDocument/2006/relationships/image" Target="../media/image26.png"/><Relationship Id="rId19" Type="http://schemas.openxmlformats.org/officeDocument/2006/relationships/image" Target="../media/image41.png"/><Relationship Id="rId6" Type="http://schemas.openxmlformats.org/officeDocument/2006/relationships/image" Target="../media/image17.png"/><Relationship Id="rId18" Type="http://schemas.openxmlformats.org/officeDocument/2006/relationships/image" Target="../media/image37.png"/><Relationship Id="rId7" Type="http://schemas.openxmlformats.org/officeDocument/2006/relationships/image" Target="../media/image23.png"/><Relationship Id="rId8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46.png"/><Relationship Id="rId10" Type="http://schemas.openxmlformats.org/officeDocument/2006/relationships/image" Target="../media/image52.png"/><Relationship Id="rId13" Type="http://schemas.openxmlformats.org/officeDocument/2006/relationships/image" Target="../media/image57.png"/><Relationship Id="rId1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7.png"/><Relationship Id="rId4" Type="http://schemas.openxmlformats.org/officeDocument/2006/relationships/image" Target="../media/image39.png"/><Relationship Id="rId9" Type="http://schemas.openxmlformats.org/officeDocument/2006/relationships/image" Target="../media/image55.png"/><Relationship Id="rId15" Type="http://schemas.openxmlformats.org/officeDocument/2006/relationships/image" Target="../media/image61.png"/><Relationship Id="rId14" Type="http://schemas.openxmlformats.org/officeDocument/2006/relationships/image" Target="../media/image60.png"/><Relationship Id="rId17" Type="http://schemas.openxmlformats.org/officeDocument/2006/relationships/image" Target="../media/image62.png"/><Relationship Id="rId16" Type="http://schemas.openxmlformats.org/officeDocument/2006/relationships/image" Target="../media/image54.png"/><Relationship Id="rId5" Type="http://schemas.openxmlformats.org/officeDocument/2006/relationships/image" Target="../media/image43.png"/><Relationship Id="rId6" Type="http://schemas.openxmlformats.org/officeDocument/2006/relationships/image" Target="../media/image51.png"/><Relationship Id="rId7" Type="http://schemas.openxmlformats.org/officeDocument/2006/relationships/image" Target="../media/image45.png"/><Relationship Id="rId8" Type="http://schemas.openxmlformats.org/officeDocument/2006/relationships/image" Target="../media/image4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67.png"/><Relationship Id="rId6" Type="http://schemas.openxmlformats.org/officeDocument/2006/relationships/image" Target="../media/image56.png"/><Relationship Id="rId7" Type="http://schemas.openxmlformats.org/officeDocument/2006/relationships/image" Target="../media/image5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59.jpg"/><Relationship Id="rId8" Type="http://schemas.openxmlformats.org/officeDocument/2006/relationships/image" Target="../media/image65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1"/>
          <p:cNvPicPr preferRelativeResize="0"/>
          <p:nvPr/>
        </p:nvPicPr>
        <p:blipFill rotWithShape="1">
          <a:blip r:embed="rId4">
            <a:alphaModFix/>
          </a:blip>
          <a:srcRect b="0" l="0" r="51622" t="0"/>
          <a:stretch/>
        </p:blipFill>
        <p:spPr>
          <a:xfrm>
            <a:off x="1" y="0"/>
            <a:ext cx="5896768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"/>
          <p:cNvSpPr txBox="1"/>
          <p:nvPr>
            <p:ph type="ctrTitle"/>
          </p:nvPr>
        </p:nvSpPr>
        <p:spPr>
          <a:xfrm>
            <a:off x="0" y="431800"/>
            <a:ext cx="5827500" cy="2819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Arial"/>
              <a:buNone/>
            </a:pPr>
            <a:r>
              <a:rPr lang="es-CL" sz="5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CAPSTONE </a:t>
            </a:r>
            <a:endParaRPr/>
          </a:p>
        </p:txBody>
      </p:sp>
      <p:sp>
        <p:nvSpPr>
          <p:cNvPr id="171" name="Google Shape;171;p1"/>
          <p:cNvSpPr/>
          <p:nvPr/>
        </p:nvSpPr>
        <p:spPr>
          <a:xfrm>
            <a:off x="5827529" y="660400"/>
            <a:ext cx="6381405" cy="6214533"/>
          </a:xfrm>
          <a:custGeom>
            <a:rect b="b" l="l" r="r" t="t"/>
            <a:pathLst>
              <a:path extrusionOk="0" h="1298" w="1333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lt1"/>
          </a:solidFill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"/>
          <p:cNvSpPr/>
          <p:nvPr/>
        </p:nvSpPr>
        <p:spPr>
          <a:xfrm>
            <a:off x="5281603" y="104899"/>
            <a:ext cx="6896713" cy="6005491"/>
          </a:xfrm>
          <a:custGeom>
            <a:rect b="b" l="l" r="r" t="t"/>
            <a:pathLst>
              <a:path extrusionOk="0" h="6005491" w="6896713">
                <a:moveTo>
                  <a:pt x="3912717" y="0"/>
                </a:moveTo>
                <a:cubicBezTo>
                  <a:pt x="4993184" y="0"/>
                  <a:pt x="5971363" y="437946"/>
                  <a:pt x="6679426" y="1146008"/>
                </a:cubicBezTo>
                <a:lnTo>
                  <a:pt x="6896713" y="1385085"/>
                </a:lnTo>
                <a:lnTo>
                  <a:pt x="6896713" y="1431256"/>
                </a:lnTo>
                <a:lnTo>
                  <a:pt x="6657442" y="1167992"/>
                </a:lnTo>
                <a:cubicBezTo>
                  <a:pt x="5955006" y="465555"/>
                  <a:pt x="4984599" y="31089"/>
                  <a:pt x="3912717" y="31089"/>
                </a:cubicBezTo>
                <a:cubicBezTo>
                  <a:pt x="1768953" y="31089"/>
                  <a:pt x="31089" y="1768953"/>
                  <a:pt x="31089" y="3912717"/>
                </a:cubicBezTo>
                <a:cubicBezTo>
                  <a:pt x="31089" y="4649636"/>
                  <a:pt x="236442" y="5338592"/>
                  <a:pt x="593046" y="5925483"/>
                </a:cubicBezTo>
                <a:lnTo>
                  <a:pt x="633874" y="5989169"/>
                </a:lnTo>
                <a:lnTo>
                  <a:pt x="607415" y="6005491"/>
                </a:lnTo>
                <a:lnTo>
                  <a:pt x="566458" y="5941603"/>
                </a:lnTo>
                <a:cubicBezTo>
                  <a:pt x="206998" y="5350013"/>
                  <a:pt x="0" y="4655538"/>
                  <a:pt x="0" y="3912717"/>
                </a:cubicBezTo>
                <a:cubicBezTo>
                  <a:pt x="0" y="1751783"/>
                  <a:pt x="1751783" y="0"/>
                  <a:pt x="3912717" y="0"/>
                </a:cubicBezTo>
                <a:close/>
              </a:path>
            </a:pathLst>
          </a:custGeom>
          <a:solidFill>
            <a:srgbClr val="FFFFFF">
              <a:alpha val="4196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3" name="Google Shape;173;p1"/>
          <p:cNvGrpSpPr/>
          <p:nvPr/>
        </p:nvGrpSpPr>
        <p:grpSpPr>
          <a:xfrm>
            <a:off x="5516218" y="331504"/>
            <a:ext cx="6675782" cy="5276654"/>
            <a:chOff x="5516218" y="331504"/>
            <a:chExt cx="6675782" cy="5276654"/>
          </a:xfrm>
        </p:grpSpPr>
        <p:cxnSp>
          <p:nvCxnSpPr>
            <p:cNvPr id="174" name="Google Shape;174;p1"/>
            <p:cNvCxnSpPr/>
            <p:nvPr/>
          </p:nvCxnSpPr>
          <p:spPr>
            <a:xfrm flipH="1">
              <a:off x="9266830" y="33150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5" name="Google Shape;175;p1"/>
            <p:cNvCxnSpPr/>
            <p:nvPr/>
          </p:nvCxnSpPr>
          <p:spPr>
            <a:xfrm flipH="1" rot="120000">
              <a:off x="9408861" y="33832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6" name="Google Shape;176;p1"/>
            <p:cNvCxnSpPr/>
            <p:nvPr/>
          </p:nvCxnSpPr>
          <p:spPr>
            <a:xfrm flipH="1" rot="240000">
              <a:off x="9551700" y="34763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7" name="Google Shape;177;p1"/>
            <p:cNvCxnSpPr/>
            <p:nvPr/>
          </p:nvCxnSpPr>
          <p:spPr>
            <a:xfrm flipH="1" rot="360000">
              <a:off x="9688748" y="36808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8" name="Google Shape;178;p1"/>
            <p:cNvCxnSpPr/>
            <p:nvPr/>
          </p:nvCxnSpPr>
          <p:spPr>
            <a:xfrm flipH="1" rot="540000">
              <a:off x="9824866" y="38922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9" name="Google Shape;179;p1"/>
            <p:cNvCxnSpPr/>
            <p:nvPr/>
          </p:nvCxnSpPr>
          <p:spPr>
            <a:xfrm flipH="1" rot="660000">
              <a:off x="9966867" y="41754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0" name="Google Shape;180;p1"/>
            <p:cNvCxnSpPr/>
            <p:nvPr/>
          </p:nvCxnSpPr>
          <p:spPr>
            <a:xfrm flipH="1" rot="780000">
              <a:off x="10104425" y="44587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1" name="Google Shape;181;p1"/>
            <p:cNvCxnSpPr/>
            <p:nvPr/>
          </p:nvCxnSpPr>
          <p:spPr>
            <a:xfrm flipH="1" rot="900000">
              <a:off x="10240513" y="47948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2" name="Google Shape;182;p1"/>
            <p:cNvCxnSpPr/>
            <p:nvPr/>
          </p:nvCxnSpPr>
          <p:spPr>
            <a:xfrm flipH="1" rot="1080000">
              <a:off x="10373882" y="52435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3" name="Google Shape;183;p1"/>
            <p:cNvCxnSpPr/>
            <p:nvPr/>
          </p:nvCxnSpPr>
          <p:spPr>
            <a:xfrm flipH="1" rot="1200000">
              <a:off x="10505632" y="57062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4" name="Google Shape;184;p1"/>
            <p:cNvCxnSpPr/>
            <p:nvPr/>
          </p:nvCxnSpPr>
          <p:spPr>
            <a:xfrm flipH="1" rot="1320000">
              <a:off x="10637382" y="62134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5" name="Google Shape;185;p1"/>
            <p:cNvCxnSpPr/>
            <p:nvPr/>
          </p:nvCxnSpPr>
          <p:spPr>
            <a:xfrm flipH="1" rot="1440000">
              <a:off x="10760965" y="69043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6" name="Google Shape;186;p1"/>
            <p:cNvCxnSpPr/>
            <p:nvPr/>
          </p:nvCxnSpPr>
          <p:spPr>
            <a:xfrm flipH="1" rot="1620000">
              <a:off x="10888991" y="75509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7" name="Google Shape;187;p1"/>
            <p:cNvCxnSpPr/>
            <p:nvPr/>
          </p:nvCxnSpPr>
          <p:spPr>
            <a:xfrm flipH="1" rot="1740000">
              <a:off x="11010193" y="81974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8" name="Google Shape;188;p1"/>
            <p:cNvCxnSpPr/>
            <p:nvPr/>
          </p:nvCxnSpPr>
          <p:spPr>
            <a:xfrm flipH="1" rot="1860000">
              <a:off x="11129014" y="895662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89" name="Google Shape;189;p1"/>
            <p:cNvCxnSpPr/>
            <p:nvPr/>
          </p:nvCxnSpPr>
          <p:spPr>
            <a:xfrm flipH="1" rot="1980000">
              <a:off x="11249872" y="96809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0" name="Google Shape;190;p1"/>
            <p:cNvCxnSpPr/>
            <p:nvPr/>
          </p:nvCxnSpPr>
          <p:spPr>
            <a:xfrm flipH="1" rot="2160000">
              <a:off x="11366875" y="104808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1" name="Google Shape;191;p1"/>
            <p:cNvCxnSpPr/>
            <p:nvPr/>
          </p:nvCxnSpPr>
          <p:spPr>
            <a:xfrm flipH="1" rot="2280000">
              <a:off x="11474058" y="113152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2" name="Google Shape;192;p1"/>
            <p:cNvCxnSpPr/>
            <p:nvPr/>
          </p:nvCxnSpPr>
          <p:spPr>
            <a:xfrm flipH="1" rot="2400000">
              <a:off x="11583303" y="122179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3" name="Google Shape;193;p1"/>
            <p:cNvCxnSpPr/>
            <p:nvPr/>
          </p:nvCxnSpPr>
          <p:spPr>
            <a:xfrm flipH="1" rot="2520000">
              <a:off x="11685344" y="1321772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4" name="Google Shape;194;p1"/>
            <p:cNvCxnSpPr/>
            <p:nvPr/>
          </p:nvCxnSpPr>
          <p:spPr>
            <a:xfrm flipH="1" rot="2700000">
              <a:off x="11787704" y="141763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5" name="Google Shape;195;p1"/>
            <p:cNvCxnSpPr/>
            <p:nvPr/>
          </p:nvCxnSpPr>
          <p:spPr>
            <a:xfrm flipH="1" rot="2820000">
              <a:off x="11880859" y="151793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6" name="Google Shape;196;p1"/>
            <p:cNvCxnSpPr/>
            <p:nvPr/>
          </p:nvCxnSpPr>
          <p:spPr>
            <a:xfrm flipH="1" rot="2940000">
              <a:off x="11969252" y="1627437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7" name="Google Shape;197;p1"/>
            <p:cNvCxnSpPr/>
            <p:nvPr/>
          </p:nvCxnSpPr>
          <p:spPr>
            <a:xfrm flipH="1" rot="3060000">
              <a:off x="12062016" y="173601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1"/>
            <p:cNvCxnSpPr/>
            <p:nvPr/>
          </p:nvCxnSpPr>
          <p:spPr>
            <a:xfrm flipH="1">
              <a:off x="12074680" y="1910249"/>
              <a:ext cx="117320" cy="82912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1"/>
            <p:cNvCxnSpPr/>
            <p:nvPr/>
          </p:nvCxnSpPr>
          <p:spPr>
            <a:xfrm flipH="1">
              <a:off x="12149943" y="2083594"/>
              <a:ext cx="39676" cy="21436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0" name="Google Shape;200;p1"/>
            <p:cNvCxnSpPr/>
            <p:nvPr/>
          </p:nvCxnSpPr>
          <p:spPr>
            <a:xfrm flipH="1" rot="-180000">
              <a:off x="9127990" y="33425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1" name="Google Shape;201;p1"/>
            <p:cNvCxnSpPr/>
            <p:nvPr/>
          </p:nvCxnSpPr>
          <p:spPr>
            <a:xfrm flipH="1" rot="-300000">
              <a:off x="8987576" y="33663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2" name="Google Shape;202;p1"/>
            <p:cNvCxnSpPr/>
            <p:nvPr/>
          </p:nvCxnSpPr>
          <p:spPr>
            <a:xfrm flipH="1" rot="-420000">
              <a:off x="8844859" y="35117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3" name="Google Shape;203;p1"/>
            <p:cNvCxnSpPr/>
            <p:nvPr/>
          </p:nvCxnSpPr>
          <p:spPr>
            <a:xfrm flipH="1" rot="-540000">
              <a:off x="8706904" y="36571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4" name="Google Shape;204;p1"/>
            <p:cNvCxnSpPr/>
            <p:nvPr/>
          </p:nvCxnSpPr>
          <p:spPr>
            <a:xfrm flipH="1" rot="-720000">
              <a:off x="8568008" y="38789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5" name="Google Shape;205;p1"/>
            <p:cNvCxnSpPr/>
            <p:nvPr/>
          </p:nvCxnSpPr>
          <p:spPr>
            <a:xfrm flipH="1" rot="-840000">
              <a:off x="8429112" y="41006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6" name="Google Shape;206;p1"/>
            <p:cNvCxnSpPr/>
            <p:nvPr/>
          </p:nvCxnSpPr>
          <p:spPr>
            <a:xfrm flipH="1" rot="-960000">
              <a:off x="8294968" y="44621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7" name="Google Shape;207;p1"/>
            <p:cNvCxnSpPr/>
            <p:nvPr/>
          </p:nvCxnSpPr>
          <p:spPr>
            <a:xfrm flipH="1" rot="-1080000">
              <a:off x="8160824" y="48237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8" name="Google Shape;208;p1"/>
            <p:cNvCxnSpPr/>
            <p:nvPr/>
          </p:nvCxnSpPr>
          <p:spPr>
            <a:xfrm flipH="1" rot="-1260000">
              <a:off x="8027689" y="53184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09" name="Google Shape;209;p1"/>
            <p:cNvCxnSpPr/>
            <p:nvPr/>
          </p:nvCxnSpPr>
          <p:spPr>
            <a:xfrm flipH="1" rot="-1380000">
              <a:off x="7894554" y="58132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0" name="Google Shape;210;p1"/>
            <p:cNvCxnSpPr/>
            <p:nvPr/>
          </p:nvCxnSpPr>
          <p:spPr>
            <a:xfrm flipH="1" rot="-1500000">
              <a:off x="7761419" y="63079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1" name="Google Shape;211;p1"/>
            <p:cNvCxnSpPr/>
            <p:nvPr/>
          </p:nvCxnSpPr>
          <p:spPr>
            <a:xfrm flipH="1" rot="-1620000">
              <a:off x="7636645" y="68980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2" name="Google Shape;212;p1"/>
            <p:cNvCxnSpPr/>
            <p:nvPr/>
          </p:nvCxnSpPr>
          <p:spPr>
            <a:xfrm flipH="1" rot="-1800000">
              <a:off x="7511871" y="75119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3" name="Google Shape;213;p1"/>
            <p:cNvCxnSpPr/>
            <p:nvPr/>
          </p:nvCxnSpPr>
          <p:spPr>
            <a:xfrm flipH="1" rot="-1920000">
              <a:off x="7387899" y="81977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4" name="Google Shape;214;p1"/>
            <p:cNvCxnSpPr/>
            <p:nvPr/>
          </p:nvCxnSpPr>
          <p:spPr>
            <a:xfrm flipH="1" rot="-2040000">
              <a:off x="7268530" y="89316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5" name="Google Shape;215;p1"/>
            <p:cNvCxnSpPr/>
            <p:nvPr/>
          </p:nvCxnSpPr>
          <p:spPr>
            <a:xfrm flipH="1" rot="-2160000">
              <a:off x="7152030" y="97658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6" name="Google Shape;216;p1"/>
            <p:cNvCxnSpPr/>
            <p:nvPr/>
          </p:nvCxnSpPr>
          <p:spPr>
            <a:xfrm flipH="1" rot="-2340000">
              <a:off x="7041695" y="106002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7" name="Google Shape;217;p1"/>
            <p:cNvCxnSpPr/>
            <p:nvPr/>
          </p:nvCxnSpPr>
          <p:spPr>
            <a:xfrm flipH="1" rot="-2460000">
              <a:off x="6931360" y="114346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8" name="Google Shape;218;p1"/>
            <p:cNvCxnSpPr/>
            <p:nvPr/>
          </p:nvCxnSpPr>
          <p:spPr>
            <a:xfrm flipH="1" rot="-2580000">
              <a:off x="6819070" y="123586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19" name="Google Shape;219;p1"/>
            <p:cNvCxnSpPr/>
            <p:nvPr/>
          </p:nvCxnSpPr>
          <p:spPr>
            <a:xfrm flipH="1" rot="-2700000">
              <a:off x="6721359" y="133274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0" name="Google Shape;220;p1"/>
            <p:cNvCxnSpPr/>
            <p:nvPr/>
          </p:nvCxnSpPr>
          <p:spPr>
            <a:xfrm flipH="1" rot="-2880000">
              <a:off x="6617467" y="142942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1"/>
            <p:cNvCxnSpPr/>
            <p:nvPr/>
          </p:nvCxnSpPr>
          <p:spPr>
            <a:xfrm flipH="1" rot="-3000000">
              <a:off x="6520032" y="152728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1"/>
            <p:cNvCxnSpPr/>
            <p:nvPr/>
          </p:nvCxnSpPr>
          <p:spPr>
            <a:xfrm flipH="1" rot="-3120000">
              <a:off x="6429579" y="164161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3" name="Google Shape;223;p1"/>
            <p:cNvCxnSpPr/>
            <p:nvPr/>
          </p:nvCxnSpPr>
          <p:spPr>
            <a:xfrm flipH="1" rot="-3240000">
              <a:off x="6340532" y="175042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4" name="Google Shape;224;p1"/>
            <p:cNvCxnSpPr/>
            <p:nvPr/>
          </p:nvCxnSpPr>
          <p:spPr>
            <a:xfrm flipH="1" rot="-3420000">
              <a:off x="6261757" y="186017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5" name="Google Shape;225;p1"/>
            <p:cNvCxnSpPr/>
            <p:nvPr/>
          </p:nvCxnSpPr>
          <p:spPr>
            <a:xfrm flipH="1" rot="-3540000">
              <a:off x="6184144" y="197961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6" name="Google Shape;226;p1"/>
            <p:cNvCxnSpPr/>
            <p:nvPr/>
          </p:nvCxnSpPr>
          <p:spPr>
            <a:xfrm flipH="1" rot="-3660000">
              <a:off x="6106531" y="209906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7" name="Google Shape;227;p1"/>
            <p:cNvCxnSpPr/>
            <p:nvPr/>
          </p:nvCxnSpPr>
          <p:spPr>
            <a:xfrm flipH="1" rot="-3780000">
              <a:off x="6043206" y="222255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8" name="Google Shape;228;p1"/>
            <p:cNvCxnSpPr/>
            <p:nvPr/>
          </p:nvCxnSpPr>
          <p:spPr>
            <a:xfrm flipH="1" rot="-3960000">
              <a:off x="5978913" y="234430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9" name="Google Shape;229;p1"/>
            <p:cNvCxnSpPr/>
            <p:nvPr/>
          </p:nvCxnSpPr>
          <p:spPr>
            <a:xfrm flipH="1" rot="-4080000">
              <a:off x="5912438" y="247067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0" name="Google Shape;230;p1"/>
            <p:cNvCxnSpPr/>
            <p:nvPr/>
          </p:nvCxnSpPr>
          <p:spPr>
            <a:xfrm flipH="1" rot="-4200000">
              <a:off x="5858875" y="2600922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1"/>
            <p:cNvCxnSpPr/>
            <p:nvPr/>
          </p:nvCxnSpPr>
          <p:spPr>
            <a:xfrm flipH="1" rot="-4320000">
              <a:off x="5808182" y="273404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1"/>
            <p:cNvCxnSpPr/>
            <p:nvPr/>
          </p:nvCxnSpPr>
          <p:spPr>
            <a:xfrm flipH="1" rot="-4500000">
              <a:off x="5773263" y="286686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3" name="Google Shape;233;p1"/>
            <p:cNvCxnSpPr/>
            <p:nvPr/>
          </p:nvCxnSpPr>
          <p:spPr>
            <a:xfrm flipH="1" rot="-4620000">
              <a:off x="5735963" y="300206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4" name="Google Shape;234;p1"/>
            <p:cNvCxnSpPr/>
            <p:nvPr/>
          </p:nvCxnSpPr>
          <p:spPr>
            <a:xfrm flipH="1" rot="-4740000">
              <a:off x="5700105" y="313891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5" name="Google Shape;235;p1"/>
            <p:cNvCxnSpPr/>
            <p:nvPr/>
          </p:nvCxnSpPr>
          <p:spPr>
            <a:xfrm flipH="1" rot="-4860000">
              <a:off x="5665939" y="3275489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6" name="Google Shape;236;p1"/>
            <p:cNvCxnSpPr/>
            <p:nvPr/>
          </p:nvCxnSpPr>
          <p:spPr>
            <a:xfrm flipH="1" rot="-5040000">
              <a:off x="5644476" y="341425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7" name="Google Shape;237;p1"/>
            <p:cNvCxnSpPr/>
            <p:nvPr/>
          </p:nvCxnSpPr>
          <p:spPr>
            <a:xfrm flipH="1" rot="-5160000">
              <a:off x="5626530" y="355462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8" name="Google Shape;238;p1"/>
            <p:cNvCxnSpPr/>
            <p:nvPr/>
          </p:nvCxnSpPr>
          <p:spPr>
            <a:xfrm flipH="1" rot="-5280000">
              <a:off x="5616429" y="3691831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9" name="Google Shape;239;p1"/>
            <p:cNvCxnSpPr/>
            <p:nvPr/>
          </p:nvCxnSpPr>
          <p:spPr>
            <a:xfrm flipH="1" rot="-5400000">
              <a:off x="5611319" y="383537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0" name="Google Shape;240;p1"/>
            <p:cNvCxnSpPr/>
            <p:nvPr/>
          </p:nvCxnSpPr>
          <p:spPr>
            <a:xfrm flipH="1" rot="-5580000">
              <a:off x="5608540" y="3975726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1"/>
            <p:cNvCxnSpPr/>
            <p:nvPr/>
          </p:nvCxnSpPr>
          <p:spPr>
            <a:xfrm flipH="1" rot="-5700000">
              <a:off x="5605761" y="411607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1"/>
            <p:cNvCxnSpPr/>
            <p:nvPr/>
          </p:nvCxnSpPr>
          <p:spPr>
            <a:xfrm flipH="1" rot="-5820000">
              <a:off x="5624195" y="425421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3" name="Google Shape;243;p1"/>
            <p:cNvCxnSpPr/>
            <p:nvPr/>
          </p:nvCxnSpPr>
          <p:spPr>
            <a:xfrm flipH="1" rot="-5940000">
              <a:off x="5642629" y="439235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4" name="Google Shape;244;p1"/>
            <p:cNvCxnSpPr/>
            <p:nvPr/>
          </p:nvCxnSpPr>
          <p:spPr>
            <a:xfrm flipH="1" rot="-6120000">
              <a:off x="5654818" y="4536385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5" name="Google Shape;245;p1"/>
            <p:cNvCxnSpPr/>
            <p:nvPr/>
          </p:nvCxnSpPr>
          <p:spPr>
            <a:xfrm flipH="1" rot="-6240000">
              <a:off x="5684446" y="4671367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6" name="Google Shape;246;p1"/>
            <p:cNvCxnSpPr/>
            <p:nvPr/>
          </p:nvCxnSpPr>
          <p:spPr>
            <a:xfrm flipH="1" rot="-6360000">
              <a:off x="5714074" y="4808730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7" name="Google Shape;247;p1"/>
            <p:cNvCxnSpPr/>
            <p:nvPr/>
          </p:nvCxnSpPr>
          <p:spPr>
            <a:xfrm flipH="1" rot="-6480000">
              <a:off x="5748464" y="4948474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8" name="Google Shape;248;p1"/>
            <p:cNvCxnSpPr/>
            <p:nvPr/>
          </p:nvCxnSpPr>
          <p:spPr>
            <a:xfrm flipH="1" rot="-6660000">
              <a:off x="5792091" y="5077607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9" name="Google Shape;249;p1"/>
            <p:cNvCxnSpPr/>
            <p:nvPr/>
          </p:nvCxnSpPr>
          <p:spPr>
            <a:xfrm flipH="1" rot="-6780000">
              <a:off x="5847441" y="521122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0" name="Google Shape;250;p1"/>
            <p:cNvCxnSpPr/>
            <p:nvPr/>
          </p:nvCxnSpPr>
          <p:spPr>
            <a:xfrm flipH="1" rot="-6900000">
              <a:off x="5900410" y="5342458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51" name="Google Shape;251;p1"/>
            <p:cNvCxnSpPr/>
            <p:nvPr/>
          </p:nvCxnSpPr>
          <p:spPr>
            <a:xfrm flipH="1" rot="-7020000">
              <a:off x="5955760" y="5473693"/>
              <a:ext cx="3394" cy="182880"/>
            </a:xfrm>
            <a:prstGeom prst="straightConnector1">
              <a:avLst/>
            </a:prstGeom>
            <a:noFill/>
            <a:ln cap="rnd" cmpd="sng" w="9525">
              <a:solidFill>
                <a:srgbClr val="FFFFFF">
                  <a:alpha val="29803"/>
                </a:srgbClr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pic>
        <p:nvPicPr>
          <p:cNvPr id="252" name="Google Shape;252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664679" y="3629553"/>
            <a:ext cx="5124328" cy="819892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"/>
          <p:cNvSpPr txBox="1"/>
          <p:nvPr/>
        </p:nvSpPr>
        <p:spPr>
          <a:xfrm>
            <a:off x="-67325" y="4173300"/>
            <a:ext cx="6030600" cy="14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550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Arial"/>
              <a:buNone/>
            </a:pPr>
            <a:r>
              <a:rPr b="0" i="0" lang="es-CL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INTEGRANTES:	</a:t>
            </a:r>
            <a:br>
              <a:rPr b="0" i="0" lang="es-CL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s-CL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JORGE MERINO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Arial"/>
              <a:buNone/>
            </a:pPr>
            <a:r>
              <a:rPr b="0" i="0" lang="es-CL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PATRICIO LAGOS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Arial"/>
              <a:buNone/>
            </a:pPr>
            <a:r>
              <a:rPr b="0" i="0" lang="es-CL" sz="4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					CARLOS ARRIAGADA</a:t>
            </a:r>
            <a:endParaRPr b="1" i="0" sz="24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"/>
          <p:cNvSpPr txBox="1"/>
          <p:nvPr>
            <p:ph type="title"/>
          </p:nvPr>
        </p:nvSpPr>
        <p:spPr>
          <a:xfrm>
            <a:off x="968052" y="4582"/>
            <a:ext cx="10131425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rPr lang="es-CL" sz="4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CONCEPTO SMART-COACH</a:t>
            </a:r>
            <a:endParaRPr sz="4800"/>
          </a:p>
        </p:txBody>
      </p:sp>
      <p:sp>
        <p:nvSpPr>
          <p:cNvPr id="259" name="Google Shape;259;p2"/>
          <p:cNvSpPr txBox="1"/>
          <p:nvPr>
            <p:ph idx="1" type="body"/>
          </p:nvPr>
        </p:nvSpPr>
        <p:spPr>
          <a:xfrm>
            <a:off x="968051" y="1196091"/>
            <a:ext cx="10131425" cy="12869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CL"/>
              <a:t>La idea de una plataforma revolucionaría que puede cambiar la forma en que entrenamos los distintos deportes</a:t>
            </a:r>
            <a:endParaRPr/>
          </a:p>
        </p:txBody>
      </p:sp>
      <p:pic>
        <p:nvPicPr>
          <p:cNvPr descr="preencoded.png" id="260" name="Google Shape;26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3573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1" name="Google Shape;26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398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2" name="Google Shape;262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97832" y="2745778"/>
            <a:ext cx="3048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3" name="Google Shape;26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1223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4" name="Google Shape;264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74170" y="2745778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5" name="Google Shape;265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55048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6" name="Google Shape;266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55282" y="2745778"/>
            <a:ext cx="3429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7" name="Google Shape;267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78873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8" name="Google Shape;268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050670" y="2745778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9" name="Google Shape;269;p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026982" y="2460028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70" name="Google Shape;270;p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350832" y="2745778"/>
            <a:ext cx="3048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71" name="Google Shape;271;p2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265232" y="2476500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72" name="Google Shape;272;p2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570032" y="2762250"/>
            <a:ext cx="3429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2029698" y="2624518"/>
            <a:ext cx="575840" cy="57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883247" y="4743450"/>
            <a:ext cx="2284828" cy="22848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5" name="Google Shape;275;p2"/>
          <p:cNvCxnSpPr>
            <a:stCxn id="260" idx="2"/>
            <a:endCxn id="274" idx="0"/>
          </p:cNvCxnSpPr>
          <p:nvPr/>
        </p:nvCxnSpPr>
        <p:spPr>
          <a:xfrm>
            <a:off x="2311982" y="3412528"/>
            <a:ext cx="37137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76" name="Google Shape;276;p2"/>
          <p:cNvCxnSpPr>
            <a:stCxn id="261" idx="2"/>
            <a:endCxn id="274" idx="0"/>
          </p:cNvCxnSpPr>
          <p:nvPr/>
        </p:nvCxnSpPr>
        <p:spPr>
          <a:xfrm>
            <a:off x="3550232" y="3412528"/>
            <a:ext cx="24753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77" name="Google Shape;277;p2"/>
          <p:cNvCxnSpPr>
            <a:stCxn id="263" idx="2"/>
            <a:endCxn id="274" idx="0"/>
          </p:cNvCxnSpPr>
          <p:nvPr/>
        </p:nvCxnSpPr>
        <p:spPr>
          <a:xfrm>
            <a:off x="4788482" y="3412528"/>
            <a:ext cx="12372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78" name="Google Shape;278;p2"/>
          <p:cNvCxnSpPr>
            <a:stCxn id="265" idx="2"/>
            <a:endCxn id="274" idx="0"/>
          </p:cNvCxnSpPr>
          <p:nvPr/>
        </p:nvCxnSpPr>
        <p:spPr>
          <a:xfrm flipH="1">
            <a:off x="6025532" y="3412528"/>
            <a:ext cx="12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79" name="Google Shape;279;p2"/>
          <p:cNvCxnSpPr>
            <a:stCxn id="267" idx="2"/>
            <a:endCxn id="274" idx="0"/>
          </p:cNvCxnSpPr>
          <p:nvPr/>
        </p:nvCxnSpPr>
        <p:spPr>
          <a:xfrm flipH="1">
            <a:off x="6025682" y="3412528"/>
            <a:ext cx="12393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80" name="Google Shape;280;p2"/>
          <p:cNvCxnSpPr>
            <a:stCxn id="269" idx="2"/>
            <a:endCxn id="274" idx="0"/>
          </p:cNvCxnSpPr>
          <p:nvPr/>
        </p:nvCxnSpPr>
        <p:spPr>
          <a:xfrm flipH="1">
            <a:off x="6025532" y="3412528"/>
            <a:ext cx="2477700" cy="13308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281" name="Google Shape;281;p2"/>
          <p:cNvCxnSpPr>
            <a:stCxn id="271" idx="2"/>
            <a:endCxn id="274" idx="0"/>
          </p:cNvCxnSpPr>
          <p:nvPr/>
        </p:nvCxnSpPr>
        <p:spPr>
          <a:xfrm flipH="1">
            <a:off x="6025682" y="3429000"/>
            <a:ext cx="3715800" cy="1314600"/>
          </a:xfrm>
          <a:prstGeom prst="straightConnector1">
            <a:avLst/>
          </a:prstGeom>
          <a:noFill/>
          <a:ln cap="flat" cmpd="sng" w="28575">
            <a:solidFill>
              <a:srgbClr val="BEC7F2"/>
            </a:solidFill>
            <a:prstDash val="solid"/>
            <a:miter lim="800000"/>
            <a:headEnd len="sm" w="sm" type="none"/>
            <a:tailEnd len="med" w="med" type="oval"/>
          </a:ln>
        </p:spPr>
      </p:cxnSp>
      <p:sp>
        <p:nvSpPr>
          <p:cNvPr id="282" name="Google Shape;282;p2"/>
          <p:cNvSpPr txBox="1"/>
          <p:nvPr/>
        </p:nvSpPr>
        <p:spPr>
          <a:xfrm>
            <a:off x="5706590" y="5411024"/>
            <a:ext cx="654346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87" name="Google Shape;28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34729" y="2954581"/>
            <a:ext cx="1782092" cy="1237564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"/>
          <p:cNvSpPr txBox="1"/>
          <p:nvPr>
            <p:ph type="title"/>
          </p:nvPr>
        </p:nvSpPr>
        <p:spPr>
          <a:xfrm>
            <a:off x="1665199" y="146630"/>
            <a:ext cx="8861601" cy="7106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SMART - SWIM</a:t>
            </a:r>
            <a:endParaRPr/>
          </a:p>
        </p:txBody>
      </p:sp>
      <p:pic>
        <p:nvPicPr>
          <p:cNvPr descr="preencoded.png" id="289" name="Google Shape;28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5181" y="120831"/>
            <a:ext cx="1098370" cy="1098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"/>
          <p:cNvPicPr preferRelativeResize="0"/>
          <p:nvPr/>
        </p:nvPicPr>
        <p:blipFill rotWithShape="1">
          <a:blip r:embed="rId5">
            <a:alphaModFix/>
          </a:blip>
          <a:srcRect b="0" l="6472" r="4639" t="0"/>
          <a:stretch/>
        </p:blipFill>
        <p:spPr>
          <a:xfrm>
            <a:off x="436203" y="18930"/>
            <a:ext cx="976326" cy="109837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"/>
          <p:cNvSpPr txBox="1"/>
          <p:nvPr/>
        </p:nvSpPr>
        <p:spPr>
          <a:xfrm>
            <a:off x="1970958" y="985030"/>
            <a:ext cx="886160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Nuestra primera rama, el proyecto piloto que demuestra el potencial de nuestra plataforma.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79692" y="3119293"/>
            <a:ext cx="3048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3" name="Google Shape;293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08095" y="3445798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4" name="Google Shape;29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9394" y="2954581"/>
            <a:ext cx="1782092" cy="12375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5" name="Google Shape;29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918990" y="3102898"/>
            <a:ext cx="3429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6" name="Google Shape;296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172760" y="346350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7" name="Google Shape;29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64059" y="2966977"/>
            <a:ext cx="1782092" cy="12375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8" name="Google Shape;298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26517" y="3124819"/>
            <a:ext cx="2571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3"/>
          <p:cNvSpPr/>
          <p:nvPr/>
        </p:nvSpPr>
        <p:spPr>
          <a:xfrm>
            <a:off x="2924187" y="3585759"/>
            <a:ext cx="1622142" cy="256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Datos del Usuario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"/>
          <p:cNvSpPr/>
          <p:nvPr/>
        </p:nvSpPr>
        <p:spPr>
          <a:xfrm>
            <a:off x="5337625" y="3564752"/>
            <a:ext cx="1540412" cy="256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Procesamiento IA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7639424" y="3572494"/>
            <a:ext cx="1638886" cy="256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 Personalizado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02" name="Google Shape;302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79871" y="4837125"/>
            <a:ext cx="355595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3" name="Google Shape;303;p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285201" y="4967925"/>
            <a:ext cx="598500" cy="47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4" name="Google Shape;304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388221" y="4837125"/>
            <a:ext cx="355595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5" name="Google Shape;305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5857553" y="4876072"/>
            <a:ext cx="478800" cy="47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6" name="Google Shape;306;p3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096572" y="4837125"/>
            <a:ext cx="355595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07" name="Google Shape;307;p3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643957" y="4981614"/>
            <a:ext cx="479000" cy="479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3"/>
          <p:cNvSpPr/>
          <p:nvPr/>
        </p:nvSpPr>
        <p:spPr>
          <a:xfrm>
            <a:off x="966887" y="5599004"/>
            <a:ext cx="2931026" cy="269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lang="es-CL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Ajuste Automático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"/>
          <p:cNvSpPr/>
          <p:nvPr/>
        </p:nvSpPr>
        <p:spPr>
          <a:xfrm>
            <a:off x="4616821" y="5388039"/>
            <a:ext cx="3098750" cy="538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Prevención de Sobre entrenamiento</a:t>
            </a:r>
            <a:endParaRPr/>
          </a:p>
        </p:txBody>
      </p:sp>
      <p:sp>
        <p:nvSpPr>
          <p:cNvPr id="310" name="Google Shape;310;p3"/>
          <p:cNvSpPr/>
          <p:nvPr/>
        </p:nvSpPr>
        <p:spPr>
          <a:xfrm>
            <a:off x="8439472" y="5558874"/>
            <a:ext cx="3072657" cy="269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Mejora Continua</a:t>
            </a:r>
            <a:endParaRPr/>
          </a:p>
        </p:txBody>
      </p:sp>
      <p:pic>
        <p:nvPicPr>
          <p:cNvPr descr="preencoded.png" id="311" name="Google Shape;311;p3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392606" y="1614238"/>
            <a:ext cx="2968993" cy="710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2" name="Google Shape;312;p3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549066" y="1611353"/>
            <a:ext cx="2968993" cy="710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3" name="Google Shape;313;p3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701466" y="1801853"/>
            <a:ext cx="24765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4" name="Google Shape;314;p3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7670459" y="1624753"/>
            <a:ext cx="2968993" cy="710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15" name="Google Shape;315;p3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7822859" y="1815253"/>
            <a:ext cx="2857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"/>
          <p:cNvSpPr/>
          <p:nvPr/>
        </p:nvSpPr>
        <p:spPr>
          <a:xfrm>
            <a:off x="2044918" y="1679002"/>
            <a:ext cx="2214564" cy="5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Especialización en Natación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"/>
          <p:cNvSpPr/>
          <p:nvPr/>
        </p:nvSpPr>
        <p:spPr>
          <a:xfrm>
            <a:off x="5101517" y="1763753"/>
            <a:ext cx="2252912" cy="256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Validación del Concepto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"/>
          <p:cNvSpPr/>
          <p:nvPr/>
        </p:nvSpPr>
        <p:spPr>
          <a:xfrm>
            <a:off x="8261010" y="1777153"/>
            <a:ext cx="2233738" cy="2560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Base para Expansión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3"/>
          <p:cNvPicPr preferRelativeResize="0"/>
          <p:nvPr/>
        </p:nvPicPr>
        <p:blipFill rotWithShape="1">
          <a:blip r:embed="rId5">
            <a:alphaModFix/>
          </a:blip>
          <a:srcRect b="0" l="6472" r="4639" t="0"/>
          <a:stretch/>
        </p:blipFill>
        <p:spPr>
          <a:xfrm>
            <a:off x="1450623" y="1665391"/>
            <a:ext cx="520335" cy="5853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6" name="Google Shape;326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4"/>
          <p:cNvSpPr txBox="1"/>
          <p:nvPr>
            <p:ph type="title"/>
          </p:nvPr>
        </p:nvSpPr>
        <p:spPr>
          <a:xfrm>
            <a:off x="698090" y="1828801"/>
            <a:ext cx="2989007" cy="192712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lang="es-CL" sz="4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ANÁLISIS FODA</a:t>
            </a:r>
            <a:endParaRPr b="1" sz="4400">
              <a:solidFill>
                <a:srgbClr val="FFFFFF"/>
              </a:solidFill>
            </a:endParaRPr>
          </a:p>
        </p:txBody>
      </p:sp>
      <p:sp>
        <p:nvSpPr>
          <p:cNvPr id="328" name="Google Shape;328;p4"/>
          <p:cNvSpPr/>
          <p:nvPr/>
        </p:nvSpPr>
        <p:spPr>
          <a:xfrm>
            <a:off x="4422108" y="0"/>
            <a:ext cx="7769892" cy="6858000"/>
          </a:xfrm>
          <a:custGeom>
            <a:rect b="b" l="l" r="r" t="t"/>
            <a:pathLst>
              <a:path extrusionOk="0" h="6837536" w="7769892">
                <a:moveTo>
                  <a:pt x="1779516" y="0"/>
                </a:moveTo>
                <a:lnTo>
                  <a:pt x="6454848" y="0"/>
                </a:lnTo>
                <a:lnTo>
                  <a:pt x="6511730" y="37905"/>
                </a:lnTo>
                <a:cubicBezTo>
                  <a:pt x="7036410" y="413592"/>
                  <a:pt x="7468976" y="909648"/>
                  <a:pt x="7769892" y="1486041"/>
                </a:cubicBezTo>
                <a:cubicBezTo>
                  <a:pt x="7769892" y="1486041"/>
                  <a:pt x="7769892" y="1486041"/>
                  <a:pt x="7769892" y="5281056"/>
                </a:cubicBezTo>
                <a:cubicBezTo>
                  <a:pt x="7437646" y="5916473"/>
                  <a:pt x="6953850" y="6452788"/>
                  <a:pt x="6353475" y="6837536"/>
                </a:cubicBezTo>
                <a:cubicBezTo>
                  <a:pt x="6353475" y="6837536"/>
                  <a:pt x="6353475" y="6837536"/>
                  <a:pt x="1882727" y="6837536"/>
                </a:cubicBezTo>
                <a:cubicBezTo>
                  <a:pt x="751925" y="6103017"/>
                  <a:pt x="0" y="4832183"/>
                  <a:pt x="0" y="3386463"/>
                </a:cubicBezTo>
                <a:cubicBezTo>
                  <a:pt x="0" y="2036566"/>
                  <a:pt x="651406" y="838748"/>
                  <a:pt x="1655292" y="88307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9" name="Google Shape;329;p4"/>
          <p:cNvGraphicFramePr/>
          <p:nvPr/>
        </p:nvGraphicFramePr>
        <p:xfrm>
          <a:off x="4699447" y="20398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1857275"/>
                <a:gridCol w="2036125"/>
                <a:gridCol w="1664675"/>
                <a:gridCol w="1747200"/>
              </a:tblGrid>
              <a:tr h="612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Fortalezas</a:t>
                      </a:r>
                      <a:endParaRPr b="0" i="0" sz="2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Oportunidades</a:t>
                      </a:r>
                      <a:endParaRPr b="0" i="0" sz="2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Debilidades</a:t>
                      </a:r>
                      <a:endParaRPr b="0" i="0" sz="2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1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Amenazas</a:t>
                      </a:r>
                      <a:endParaRPr b="0" i="0" sz="2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2164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0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Seguridad on-premise, IA español, Stack robusto, validación real</a:t>
                      </a:r>
                      <a:endParaRPr/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0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Mercado LATAM, federaciones, B2B, expansión</a:t>
                      </a:r>
                      <a:endParaRPr/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0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Equipo reducido, cobertura solo Chile, recursos</a:t>
                      </a:r>
                      <a:endParaRPr/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/>
                        <a:buNone/>
                      </a:pPr>
                      <a:r>
                        <a:rPr b="0" i="0" lang="es-CL" sz="2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 internacional, IA avanzada, app stores</a:t>
                      </a:r>
                      <a:endParaRPr b="0" i="0" sz="2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1900" marB="51900" marR="51900" marL="519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5"/>
          <p:cNvSpPr/>
          <p:nvPr/>
        </p:nvSpPr>
        <p:spPr>
          <a:xfrm flipH="1">
            <a:off x="0" y="-2"/>
            <a:ext cx="4125976" cy="6858002"/>
          </a:xfrm>
          <a:custGeom>
            <a:rect b="b" l="l" r="r" t="t"/>
            <a:pathLst>
              <a:path extrusionOk="0" h="6858002" w="4125976">
                <a:moveTo>
                  <a:pt x="4125976" y="0"/>
                </a:moveTo>
                <a:lnTo>
                  <a:pt x="1300393" y="0"/>
                </a:lnTo>
                <a:lnTo>
                  <a:pt x="1300393" y="2"/>
                </a:lnTo>
                <a:lnTo>
                  <a:pt x="1155520" y="2"/>
                </a:lnTo>
                <a:lnTo>
                  <a:pt x="1074856" y="88573"/>
                </a:lnTo>
                <a:cubicBezTo>
                  <a:pt x="422987" y="841260"/>
                  <a:pt x="0" y="2042663"/>
                  <a:pt x="0" y="3396600"/>
                </a:cubicBezTo>
                <a:cubicBezTo>
                  <a:pt x="0" y="4846647"/>
                  <a:pt x="488259" y="6121285"/>
                  <a:pt x="1222540" y="6858002"/>
                </a:cubicBezTo>
                <a:cubicBezTo>
                  <a:pt x="4125598" y="6858002"/>
                  <a:pt x="4125598" y="6858002"/>
                  <a:pt x="4125598" y="6858002"/>
                </a:cubicBezTo>
                <a:lnTo>
                  <a:pt x="4125976" y="6857600"/>
                </a:lnTo>
                <a:close/>
              </a:path>
            </a:pathLst>
          </a:cu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5"/>
          <p:cNvSpPr txBox="1"/>
          <p:nvPr>
            <p:ph type="title"/>
          </p:nvPr>
        </p:nvSpPr>
        <p:spPr>
          <a:xfrm>
            <a:off x="685801" y="643466"/>
            <a:ext cx="2590799" cy="4995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ANÁLISIS FODA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37" name="Google Shape;337;p5"/>
          <p:cNvGraphicFramePr/>
          <p:nvPr/>
        </p:nvGraphicFramePr>
        <p:xfrm>
          <a:off x="4834860" y="901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3531600"/>
                <a:gridCol w="2961075"/>
              </a:tblGrid>
              <a:tr h="1381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b="1" lang="es-CL" sz="2300" u="none" cap="none" strike="noStrike">
                          <a:solidFill>
                            <a:srgbClr val="3F3F3F"/>
                          </a:solidFill>
                        </a:rPr>
                        <a:t>Estrategia FO (Fortaleza + Oportunidad)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b="1" lang="es-CL" sz="2300" u="none" cap="none" strike="noStrike">
                          <a:solidFill>
                            <a:srgbClr val="3F3F3F"/>
                          </a:solidFill>
                        </a:rPr>
                        <a:t>Estrategia DO (Debilidad + Oportunidad)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811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Versión enterprise para clubes (on-premise)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Alianzas universitarias para I+D de IA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</a:tr>
              <a:tr h="102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API integración con wearables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E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E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Modelo híbrido cloud/on-premise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E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E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28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Expansión LATAM con modelo competitivo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F3F3F"/>
                        </a:buClr>
                        <a:buSzPts val="2300"/>
                        <a:buFont typeface="Calibri"/>
                        <a:buNone/>
                      </a:pPr>
                      <a:r>
                        <a:rPr lang="es-CL" sz="2300" u="none" cap="none" strike="noStrike">
                          <a:solidFill>
                            <a:srgbClr val="3F3F3F"/>
                          </a:solidFill>
                        </a:rPr>
                        <a:t>Embajadores entre nadadores locales</a:t>
                      </a:r>
                      <a:endParaRPr/>
                    </a:p>
                  </a:txBody>
                  <a:tcPr marT="141125" marB="141125" marR="40550" marL="282250" anchor="ctr">
                    <a:lnL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8DCD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DEDC">
                        <a:alpha val="2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 flipH="1">
            <a:off x="0" y="-2"/>
            <a:ext cx="4125976" cy="6858002"/>
          </a:xfrm>
          <a:custGeom>
            <a:rect b="b" l="l" r="r" t="t"/>
            <a:pathLst>
              <a:path extrusionOk="0" h="6858002" w="4125976">
                <a:moveTo>
                  <a:pt x="4125976" y="0"/>
                </a:moveTo>
                <a:lnTo>
                  <a:pt x="1300393" y="0"/>
                </a:lnTo>
                <a:lnTo>
                  <a:pt x="1300393" y="2"/>
                </a:lnTo>
                <a:lnTo>
                  <a:pt x="1155520" y="2"/>
                </a:lnTo>
                <a:lnTo>
                  <a:pt x="1074856" y="88573"/>
                </a:lnTo>
                <a:cubicBezTo>
                  <a:pt x="422987" y="841260"/>
                  <a:pt x="0" y="2042663"/>
                  <a:pt x="0" y="3396600"/>
                </a:cubicBezTo>
                <a:cubicBezTo>
                  <a:pt x="0" y="4846647"/>
                  <a:pt x="488259" y="6121285"/>
                  <a:pt x="1222540" y="6858002"/>
                </a:cubicBezTo>
                <a:cubicBezTo>
                  <a:pt x="4125598" y="6858002"/>
                  <a:pt x="4125598" y="6858002"/>
                  <a:pt x="4125598" y="6858002"/>
                </a:cubicBezTo>
                <a:lnTo>
                  <a:pt x="4125976" y="6857600"/>
                </a:lnTo>
                <a:close/>
              </a:path>
            </a:pathLst>
          </a:cu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6"/>
          <p:cNvSpPr txBox="1"/>
          <p:nvPr>
            <p:ph type="title"/>
          </p:nvPr>
        </p:nvSpPr>
        <p:spPr>
          <a:xfrm>
            <a:off x="685801" y="643466"/>
            <a:ext cx="2590799" cy="4995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ANÁLISIS FODA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45" name="Google Shape;345;p6"/>
          <p:cNvGraphicFramePr/>
          <p:nvPr/>
        </p:nvGraphicFramePr>
        <p:xfrm>
          <a:off x="4961497" y="901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3165950"/>
                <a:gridCol w="3073475"/>
              </a:tblGrid>
              <a:tr h="1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b="1" lang="es-CL" sz="2600" u="none" cap="none" strike="noStrike"/>
                        <a:t>Estrategia FA (Fortaleza + Amenaza)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b="1" lang="es-CL" sz="2600" u="none" cap="none" strike="noStrike"/>
                        <a:t>Estrategia DA (Debilidad + Amenaza)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100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Privacidad superior frente competencia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Enfoque en nichos (masters/triatletas)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02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Funcionalidades avanzadas en español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Funcionalidad mínima/precio competitivo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7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Migración asistida de otras plataformas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600"/>
                        <a:buFont typeface="Calibri"/>
                        <a:buNone/>
                      </a:pPr>
                      <a:r>
                        <a:rPr lang="es-CL" sz="2600" u="none" cap="none" strike="noStrike"/>
                        <a:t>Comunidad online para retención</a:t>
                      </a:r>
                      <a:endParaRPr/>
                    </a:p>
                  </a:txBody>
                  <a:tcPr marT="85625" marB="85625" marR="85625" marL="8562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7"/>
          <p:cNvSpPr/>
          <p:nvPr/>
        </p:nvSpPr>
        <p:spPr>
          <a:xfrm>
            <a:off x="0" y="0"/>
            <a:ext cx="12188825" cy="2284214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0" y="0"/>
            <a:ext cx="12192000" cy="2284214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p7"/>
          <p:cNvPicPr preferRelativeResize="0"/>
          <p:nvPr/>
        </p:nvPicPr>
        <p:blipFill rotWithShape="1">
          <a:blip r:embed="rId4">
            <a:alphaModFix/>
          </a:blip>
          <a:srcRect b="66684" l="0" r="0" t="0"/>
          <a:stretch/>
        </p:blipFill>
        <p:spPr>
          <a:xfrm>
            <a:off x="-3175" y="0"/>
            <a:ext cx="12188825" cy="2284214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7"/>
          <p:cNvSpPr txBox="1"/>
          <p:nvPr>
            <p:ph type="title"/>
          </p:nvPr>
        </p:nvSpPr>
        <p:spPr>
          <a:xfrm>
            <a:off x="1028700" y="653142"/>
            <a:ext cx="1013142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100"/>
              <a:buFont typeface="Arial"/>
              <a:buNone/>
            </a:pPr>
            <a:r>
              <a:rPr lang="es-CL" sz="41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FACTIBILIDAD Y ANÁLISIS ECONÓMICO</a:t>
            </a:r>
            <a:endParaRPr sz="4100">
              <a:solidFill>
                <a:srgbClr val="FFFFFF"/>
              </a:solidFill>
            </a:endParaRPr>
          </a:p>
        </p:txBody>
      </p:sp>
      <p:graphicFrame>
        <p:nvGraphicFramePr>
          <p:cNvPr id="355" name="Google Shape;355;p7"/>
          <p:cNvGraphicFramePr/>
          <p:nvPr/>
        </p:nvGraphicFramePr>
        <p:xfrm>
          <a:off x="1028700" y="275104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5566575"/>
                <a:gridCol w="4564850"/>
              </a:tblGrid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1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Métrica</a:t>
                      </a:r>
                      <a:endParaRPr b="0" i="0" sz="2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1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Valor</a:t>
                      </a:r>
                      <a:endParaRPr b="0" i="0" sz="24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Inversión inicial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$50,000 USD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VAN (12%)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$21,320 USD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TIR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25%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Payback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~2.1 años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5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Costos operativos anuales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b="0" i="0" lang="es-CL" sz="24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$7,000 – $8,000 USD</a:t>
                      </a:r>
                      <a:endParaRPr/>
                    </a:p>
                  </a:txBody>
                  <a:tcPr marT="71175" marB="71175" marR="71175" marL="71175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/>
          <p:nvPr/>
        </p:nvSpPr>
        <p:spPr>
          <a:xfrm flipH="1">
            <a:off x="0" y="-2"/>
            <a:ext cx="4125976" cy="6858002"/>
          </a:xfrm>
          <a:custGeom>
            <a:rect b="b" l="l" r="r" t="t"/>
            <a:pathLst>
              <a:path extrusionOk="0" h="6858002" w="4125976">
                <a:moveTo>
                  <a:pt x="4125976" y="0"/>
                </a:moveTo>
                <a:lnTo>
                  <a:pt x="1300393" y="0"/>
                </a:lnTo>
                <a:lnTo>
                  <a:pt x="1300393" y="2"/>
                </a:lnTo>
                <a:lnTo>
                  <a:pt x="1155520" y="2"/>
                </a:lnTo>
                <a:lnTo>
                  <a:pt x="1074856" y="88573"/>
                </a:lnTo>
                <a:cubicBezTo>
                  <a:pt x="422987" y="841260"/>
                  <a:pt x="0" y="2042663"/>
                  <a:pt x="0" y="3396600"/>
                </a:cubicBezTo>
                <a:cubicBezTo>
                  <a:pt x="0" y="4846647"/>
                  <a:pt x="488259" y="6121285"/>
                  <a:pt x="1222540" y="6858002"/>
                </a:cubicBezTo>
                <a:cubicBezTo>
                  <a:pt x="4125598" y="6858002"/>
                  <a:pt x="4125598" y="6858002"/>
                  <a:pt x="4125598" y="6858002"/>
                </a:cubicBezTo>
                <a:lnTo>
                  <a:pt x="4125976" y="6857600"/>
                </a:lnTo>
                <a:close/>
              </a:path>
            </a:pathLst>
          </a:cu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8"/>
          <p:cNvSpPr txBox="1"/>
          <p:nvPr>
            <p:ph type="title"/>
          </p:nvPr>
        </p:nvSpPr>
        <p:spPr>
          <a:xfrm>
            <a:off x="236157" y="731956"/>
            <a:ext cx="3889819" cy="49953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COMPARATIVA DE INVERSIÓN Y MEJORA</a:t>
            </a:r>
            <a:br>
              <a:rPr lang="es-CL"/>
            </a:b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63" name="Google Shape;363;p8"/>
          <p:cNvGraphicFramePr/>
          <p:nvPr/>
        </p:nvGraphicFramePr>
        <p:xfrm>
          <a:off x="4343401" y="151291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1399925"/>
                <a:gridCol w="1336925"/>
                <a:gridCol w="993950"/>
                <a:gridCol w="1301925"/>
                <a:gridCol w="1357925"/>
                <a:gridCol w="1119925"/>
              </a:tblGrid>
              <a:tr h="973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Inversión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VAN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TIR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Payback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Usuarios Año 1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b="1" lang="es-CL" sz="2400" u="none" cap="none" strike="noStrike"/>
                        <a:t>Riesgo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9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$25,700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-$8,250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8.5%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2.8 años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500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Alto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$50,000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+$15,280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22.5%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2.4 años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1,500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Medio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$75,000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+$28,500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31.2%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2.1 años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3,000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Calibri"/>
                        <a:buNone/>
                      </a:pPr>
                      <a:r>
                        <a:rPr lang="es-CL" sz="2400" u="none" cap="none" strike="noStrike"/>
                        <a:t>Bajo</a:t>
                      </a:r>
                      <a:endParaRPr/>
                    </a:p>
                  </a:txBody>
                  <a:tcPr marT="58550" marB="58550" marR="58550" marL="585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9"/>
          <p:cNvSpPr txBox="1"/>
          <p:nvPr>
            <p:ph type="title"/>
          </p:nvPr>
        </p:nvSpPr>
        <p:spPr>
          <a:xfrm>
            <a:off x="1665199" y="146630"/>
            <a:ext cx="8861601" cy="7106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STACK TECNOLÓGICO</a:t>
            </a:r>
            <a:endParaRPr/>
          </a:p>
        </p:txBody>
      </p:sp>
      <p:grpSp>
        <p:nvGrpSpPr>
          <p:cNvPr id="369" name="Google Shape;369;p9"/>
          <p:cNvGrpSpPr/>
          <p:nvPr/>
        </p:nvGrpSpPr>
        <p:grpSpPr>
          <a:xfrm>
            <a:off x="2573866" y="1014636"/>
            <a:ext cx="7044267" cy="5418666"/>
            <a:chOff x="541866" y="0"/>
            <a:chExt cx="7044267" cy="5418666"/>
          </a:xfrm>
        </p:grpSpPr>
        <p:sp>
          <p:nvSpPr>
            <p:cNvPr id="370" name="Google Shape;370;p9"/>
            <p:cNvSpPr/>
            <p:nvPr/>
          </p:nvSpPr>
          <p:spPr>
            <a:xfrm>
              <a:off x="4909312" y="3684693"/>
              <a:ext cx="2676821" cy="1733973"/>
            </a:xfrm>
            <a:prstGeom prst="roundRect">
              <a:avLst>
                <a:gd fmla="val 10000" name="adj"/>
              </a:avLst>
            </a:prstGeom>
            <a:solidFill>
              <a:schemeClr val="lt1">
                <a:alpha val="89803"/>
              </a:schemeClr>
            </a:solidFill>
            <a:ln cap="rnd" cmpd="sng" w="19050">
              <a:solidFill>
                <a:srgbClr val="42B8B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9"/>
            <p:cNvSpPr txBox="1"/>
            <p:nvPr/>
          </p:nvSpPr>
          <p:spPr>
            <a:xfrm>
              <a:off x="5750448" y="4156276"/>
              <a:ext cx="1797595" cy="122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171450" lvl="1" marL="17145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900"/>
                <a:buFont typeface="Arial"/>
                <a:buNone/>
              </a:pPr>
              <a:r>
                <a:rPr b="1" i="0" lang="es-CL" sz="1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Inteligencia Artificial</a:t>
              </a:r>
              <a:endParaRPr b="0" i="0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p9"/>
            <p:cNvSpPr/>
            <p:nvPr/>
          </p:nvSpPr>
          <p:spPr>
            <a:xfrm>
              <a:off x="541866" y="3684693"/>
              <a:ext cx="2676821" cy="1733973"/>
            </a:xfrm>
            <a:prstGeom prst="roundRect">
              <a:avLst>
                <a:gd fmla="val 10000" name="adj"/>
              </a:avLst>
            </a:prstGeom>
            <a:solidFill>
              <a:schemeClr val="lt1">
                <a:alpha val="89803"/>
              </a:schemeClr>
            </a:solidFill>
            <a:ln cap="rnd" cmpd="sng" w="19050">
              <a:solidFill>
                <a:srgbClr val="45B09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9"/>
            <p:cNvSpPr txBox="1"/>
            <p:nvPr/>
          </p:nvSpPr>
          <p:spPr>
            <a:xfrm>
              <a:off x="579956" y="4156276"/>
              <a:ext cx="1797595" cy="122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900"/>
                <a:buFont typeface="Arial"/>
                <a:buNone/>
              </a:pPr>
              <a:r>
                <a:rPr b="1" i="0" lang="es-CL" sz="1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Base de Datos y Autenticación</a:t>
              </a:r>
              <a:endParaRPr b="0" i="0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p9"/>
            <p:cNvSpPr/>
            <p:nvPr/>
          </p:nvSpPr>
          <p:spPr>
            <a:xfrm>
              <a:off x="4909312" y="0"/>
              <a:ext cx="2676821" cy="1733973"/>
            </a:xfrm>
            <a:prstGeom prst="roundRect">
              <a:avLst>
                <a:gd fmla="val 10000" name="adj"/>
              </a:avLst>
            </a:prstGeom>
            <a:solidFill>
              <a:schemeClr val="lt1">
                <a:alpha val="89803"/>
              </a:schemeClr>
            </a:solidFill>
            <a:ln cap="rnd" cmpd="sng" w="19050">
              <a:solidFill>
                <a:srgbClr val="439AC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9"/>
            <p:cNvSpPr txBox="1"/>
            <p:nvPr/>
          </p:nvSpPr>
          <p:spPr>
            <a:xfrm>
              <a:off x="5750448" y="38090"/>
              <a:ext cx="1797595" cy="122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900"/>
                <a:buFont typeface="Arial"/>
                <a:buNone/>
              </a:pPr>
              <a:r>
                <a:rPr b="1" i="0" lang="es-CL" sz="1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Backend</a:t>
              </a:r>
              <a:endParaRPr b="0" i="0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9"/>
            <p:cNvSpPr/>
            <p:nvPr/>
          </p:nvSpPr>
          <p:spPr>
            <a:xfrm>
              <a:off x="541866" y="0"/>
              <a:ext cx="2676821" cy="1733973"/>
            </a:xfrm>
            <a:prstGeom prst="roundRect">
              <a:avLst>
                <a:gd fmla="val 10000" name="adj"/>
              </a:avLst>
            </a:prstGeom>
            <a:solidFill>
              <a:schemeClr val="lt1">
                <a:alpha val="89803"/>
              </a:schemeClr>
            </a:solidFill>
            <a:ln cap="rnd" cmpd="sng" w="19050">
              <a:solidFill>
                <a:srgbClr val="467BC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9"/>
            <p:cNvSpPr txBox="1"/>
            <p:nvPr/>
          </p:nvSpPr>
          <p:spPr>
            <a:xfrm>
              <a:off x="579956" y="38090"/>
              <a:ext cx="1797595" cy="122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171450" lvl="1" marL="17145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900"/>
                <a:buFont typeface="Arial"/>
                <a:buNone/>
              </a:pPr>
              <a:r>
                <a:rPr b="1" i="0" lang="es-CL" sz="19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Frontend Móvil</a:t>
              </a:r>
              <a:endParaRPr b="0" i="0" sz="1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8" name="Google Shape;378;p9"/>
            <p:cNvSpPr/>
            <p:nvPr/>
          </p:nvSpPr>
          <p:spPr>
            <a:xfrm>
              <a:off x="1663530" y="328525"/>
              <a:ext cx="2346282" cy="2346282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120000"/>
                  </a:lnTo>
                  <a:cubicBezTo>
                    <a:pt x="0" y="53726"/>
                    <a:pt x="53726" y="0"/>
                    <a:pt x="120000" y="0"/>
                  </a:cubicBezTo>
                  <a:lnTo>
                    <a:pt x="120000" y="120000"/>
                  </a:lnTo>
                  <a:close/>
                </a:path>
              </a:pathLst>
            </a:custGeom>
            <a:solidFill>
              <a:srgbClr val="467BCF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9"/>
            <p:cNvSpPr txBox="1"/>
            <p:nvPr/>
          </p:nvSpPr>
          <p:spPr>
            <a:xfrm>
              <a:off x="2350740" y="1015735"/>
              <a:ext cx="1659072" cy="16590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225" lIns="142225" spcFirstLastPara="1" rIns="142225" wrap="square" tIns="1422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Arial"/>
                <a:buNone/>
              </a:pPr>
              <a:r>
                <a:rPr b="1" lang="es-CL" sz="2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React Native con TypeScript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0" name="Google Shape;380;p9"/>
            <p:cNvSpPr/>
            <p:nvPr/>
          </p:nvSpPr>
          <p:spPr>
            <a:xfrm rot="5400000">
              <a:off x="4118186" y="308864"/>
              <a:ext cx="2346282" cy="2346282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120000"/>
                  </a:lnTo>
                  <a:cubicBezTo>
                    <a:pt x="0" y="53726"/>
                    <a:pt x="53726" y="0"/>
                    <a:pt x="120000" y="0"/>
                  </a:cubicBezTo>
                  <a:lnTo>
                    <a:pt x="120000" y="120000"/>
                  </a:lnTo>
                  <a:close/>
                </a:path>
              </a:pathLst>
            </a:custGeom>
            <a:solidFill>
              <a:srgbClr val="439AC7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9"/>
            <p:cNvSpPr txBox="1"/>
            <p:nvPr/>
          </p:nvSpPr>
          <p:spPr>
            <a:xfrm>
              <a:off x="4118186" y="996074"/>
              <a:ext cx="1659072" cy="16590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225" lIns="142225" spcFirstLastPara="1" rIns="142225" wrap="square" tIns="1422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Arial"/>
                <a:buNone/>
              </a:pPr>
              <a:r>
                <a:rPr b="1" lang="es-CL" sz="2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FastAPI en Python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2" name="Google Shape;382;p9"/>
            <p:cNvSpPr/>
            <p:nvPr/>
          </p:nvSpPr>
          <p:spPr>
            <a:xfrm rot="10800000">
              <a:off x="4118186" y="2763520"/>
              <a:ext cx="2346282" cy="2346282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120000"/>
                  </a:lnTo>
                  <a:cubicBezTo>
                    <a:pt x="0" y="53726"/>
                    <a:pt x="53726" y="0"/>
                    <a:pt x="120000" y="0"/>
                  </a:cubicBezTo>
                  <a:lnTo>
                    <a:pt x="120000" y="120000"/>
                  </a:lnTo>
                  <a:close/>
                </a:path>
              </a:pathLst>
            </a:custGeom>
            <a:solidFill>
              <a:srgbClr val="42B8BE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9"/>
            <p:cNvSpPr txBox="1"/>
            <p:nvPr/>
          </p:nvSpPr>
          <p:spPr>
            <a:xfrm>
              <a:off x="4118186" y="2763520"/>
              <a:ext cx="1659072" cy="16590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225" lIns="142225" spcFirstLastPara="1" rIns="142225" wrap="square" tIns="1422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Arial"/>
                <a:buNone/>
              </a:pPr>
              <a:r>
                <a:rPr b="1" lang="es-CL" sz="2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Modelo Gemma3:4B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9"/>
            <p:cNvSpPr/>
            <p:nvPr/>
          </p:nvSpPr>
          <p:spPr>
            <a:xfrm rot="-5400000">
              <a:off x="1663530" y="2763520"/>
              <a:ext cx="2346282" cy="2346282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120000"/>
                  </a:lnTo>
                  <a:cubicBezTo>
                    <a:pt x="0" y="53726"/>
                    <a:pt x="53726" y="0"/>
                    <a:pt x="120000" y="0"/>
                  </a:cubicBezTo>
                  <a:lnTo>
                    <a:pt x="120000" y="120000"/>
                  </a:lnTo>
                  <a:close/>
                </a:path>
              </a:pathLst>
            </a:custGeom>
            <a:solidFill>
              <a:srgbClr val="45B096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9"/>
            <p:cNvSpPr txBox="1"/>
            <p:nvPr/>
          </p:nvSpPr>
          <p:spPr>
            <a:xfrm>
              <a:off x="2350740" y="2763520"/>
              <a:ext cx="1659072" cy="16590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42225" lIns="142225" spcFirstLastPara="1" rIns="142225" wrap="square" tIns="142225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Arial"/>
                <a:buNone/>
              </a:pPr>
              <a:r>
                <a:rPr b="1" lang="es-CL" sz="2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Supabase</a:t>
              </a:r>
              <a:endParaRPr sz="2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9"/>
            <p:cNvSpPr/>
            <p:nvPr/>
          </p:nvSpPr>
          <p:spPr>
            <a:xfrm>
              <a:off x="3658954" y="2221653"/>
              <a:ext cx="810090" cy="704426"/>
            </a:xfrm>
            <a:custGeom>
              <a:rect b="b" l="l" r="r" t="t"/>
              <a:pathLst>
                <a:path extrusionOk="0" h="120000" w="120000">
                  <a:moveTo>
                    <a:pt x="6522" y="60000"/>
                  </a:moveTo>
                  <a:lnTo>
                    <a:pt x="6522" y="60000"/>
                  </a:lnTo>
                  <a:cubicBezTo>
                    <a:pt x="6522" y="34374"/>
                    <a:pt x="25367" y="12492"/>
                    <a:pt x="51107" y="8231"/>
                  </a:cubicBezTo>
                  <a:cubicBezTo>
                    <a:pt x="76848" y="3970"/>
                    <a:pt x="101961" y="18574"/>
                    <a:pt x="110521" y="42783"/>
                  </a:cubicBezTo>
                  <a:lnTo>
                    <a:pt x="116427" y="42783"/>
                  </a:lnTo>
                  <a:lnTo>
                    <a:pt x="106957" y="60000"/>
                  </a:lnTo>
                  <a:lnTo>
                    <a:pt x="90340" y="42783"/>
                  </a:lnTo>
                  <a:lnTo>
                    <a:pt x="95921" y="42783"/>
                  </a:lnTo>
                  <a:cubicBezTo>
                    <a:pt x="87358" y="27416"/>
                    <a:pt x="68572" y="19475"/>
                    <a:pt x="50448" y="23561"/>
                  </a:cubicBezTo>
                  <a:cubicBezTo>
                    <a:pt x="32324" y="27648"/>
                    <a:pt x="19565" y="42702"/>
                    <a:pt x="19565" y="60000"/>
                  </a:cubicBezTo>
                  <a:close/>
                </a:path>
              </a:pathLst>
            </a:custGeom>
            <a:solidFill>
              <a:srgbClr val="CDD5EC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9"/>
            <p:cNvSpPr/>
            <p:nvPr/>
          </p:nvSpPr>
          <p:spPr>
            <a:xfrm rot="10800000">
              <a:off x="3658954" y="2492586"/>
              <a:ext cx="810090" cy="704426"/>
            </a:xfrm>
            <a:custGeom>
              <a:rect b="b" l="l" r="r" t="t"/>
              <a:pathLst>
                <a:path extrusionOk="0" h="120000" w="120000">
                  <a:moveTo>
                    <a:pt x="6522" y="60000"/>
                  </a:moveTo>
                  <a:lnTo>
                    <a:pt x="6522" y="60000"/>
                  </a:lnTo>
                  <a:cubicBezTo>
                    <a:pt x="6522" y="34374"/>
                    <a:pt x="25367" y="12492"/>
                    <a:pt x="51107" y="8231"/>
                  </a:cubicBezTo>
                  <a:cubicBezTo>
                    <a:pt x="76848" y="3970"/>
                    <a:pt x="101961" y="18574"/>
                    <a:pt x="110521" y="42783"/>
                  </a:cubicBezTo>
                  <a:lnTo>
                    <a:pt x="116427" y="42783"/>
                  </a:lnTo>
                  <a:lnTo>
                    <a:pt x="106957" y="60000"/>
                  </a:lnTo>
                  <a:lnTo>
                    <a:pt x="90340" y="42783"/>
                  </a:lnTo>
                  <a:lnTo>
                    <a:pt x="95921" y="42783"/>
                  </a:lnTo>
                  <a:cubicBezTo>
                    <a:pt x="87358" y="27416"/>
                    <a:pt x="68572" y="19475"/>
                    <a:pt x="50448" y="23561"/>
                  </a:cubicBezTo>
                  <a:cubicBezTo>
                    <a:pt x="32324" y="27648"/>
                    <a:pt x="19565" y="42702"/>
                    <a:pt x="19565" y="60000"/>
                  </a:cubicBezTo>
                  <a:close/>
                </a:path>
              </a:pathLst>
            </a:custGeom>
            <a:solidFill>
              <a:srgbClr val="CDD5EC"/>
            </a:solidFill>
            <a:ln cap="rnd" cmpd="sng" w="1905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0"/>
          <p:cNvSpPr txBox="1"/>
          <p:nvPr/>
        </p:nvSpPr>
        <p:spPr>
          <a:xfrm>
            <a:off x="1665199" y="146630"/>
            <a:ext cx="8861601" cy="7106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 sz="36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ARQUITECTURA DE LA SOLUCIÓN</a:t>
            </a:r>
            <a:endParaRPr sz="3600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3" name="Google Shape;39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9587" y="1671637"/>
            <a:ext cx="11172825" cy="3514725"/>
          </a:xfrm>
          <a:prstGeom prst="rect">
            <a:avLst/>
          </a:prstGeom>
          <a:noFill/>
          <a:ln>
            <a:noFill/>
          </a:ln>
          <a:effectLst>
            <a:outerShdw blurRad="292100" rotWithShape="0" algn="tl" dir="2700000" dist="139700">
              <a:srgbClr val="333333">
                <a:alpha val="64705"/>
              </a:srgbClr>
            </a:outerShdw>
            <a:reflection blurRad="0" dir="0" dist="0" endA="0" endPos="39000" kx="0" rotWithShape="0" algn="bl" stA="20000" stPos="0" sy="-100000" ky="0"/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1"/>
          <p:cNvSpPr txBox="1"/>
          <p:nvPr/>
        </p:nvSpPr>
        <p:spPr>
          <a:xfrm>
            <a:off x="1665199" y="146630"/>
            <a:ext cx="8861601" cy="71064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lang="es-CL" sz="36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FLUJO OPERATIVO</a:t>
            </a:r>
            <a:endParaRPr sz="3600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/>
          <p:nvPr/>
        </p:nvSpPr>
        <p:spPr>
          <a:xfrm>
            <a:off x="60959" y="1014260"/>
            <a:ext cx="12070080" cy="269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lang="es-CL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 proceso completo de interacción del usuario con SmartSwim</a:t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0" name="Google Shape;40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2117044"/>
            <a:ext cx="2160000" cy="27846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1" name="Google Shape;401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13336" y="2162174"/>
            <a:ext cx="246268" cy="3940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2" name="Google Shape;402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00474" y="2117044"/>
            <a:ext cx="2160000" cy="27846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3" name="Google Shape;40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37953" y="2143124"/>
            <a:ext cx="246268" cy="3940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4" name="Google Shape;404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19948" y="2117044"/>
            <a:ext cx="2160000" cy="27846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5" name="Google Shape;405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3654" y="2143124"/>
            <a:ext cx="246268" cy="3940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6" name="Google Shape;406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39868" y="2117044"/>
            <a:ext cx="2160000" cy="27846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7" name="Google Shape;40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76423" y="2143124"/>
            <a:ext cx="246268" cy="3940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8" name="Google Shape;408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262637" y="2117044"/>
            <a:ext cx="2160000" cy="27846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9" name="Google Shape;409;p11"/>
          <p:cNvGrpSpPr/>
          <p:nvPr/>
        </p:nvGrpSpPr>
        <p:grpSpPr>
          <a:xfrm>
            <a:off x="1138125" y="2332322"/>
            <a:ext cx="571500" cy="571500"/>
            <a:chOff x="1080314" y="1866900"/>
            <a:chExt cx="571500" cy="571500"/>
          </a:xfrm>
        </p:grpSpPr>
        <p:pic>
          <p:nvPicPr>
            <p:cNvPr descr="preencoded.png" id="410" name="Google Shape;410;p11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1080314" y="18669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11" name="Google Shape;411;p11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1223189" y="2000250"/>
              <a:ext cx="285750" cy="304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2" name="Google Shape;412;p11"/>
          <p:cNvGrpSpPr/>
          <p:nvPr/>
        </p:nvGrpSpPr>
        <p:grpSpPr>
          <a:xfrm>
            <a:off x="3352176" y="2322796"/>
            <a:ext cx="571500" cy="571500"/>
            <a:chOff x="3399801" y="1866900"/>
            <a:chExt cx="571500" cy="571500"/>
          </a:xfrm>
        </p:grpSpPr>
        <p:pic>
          <p:nvPicPr>
            <p:cNvPr descr="preencoded.png" id="413" name="Google Shape;413;p11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3399801" y="18669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14" name="Google Shape;414;p11"/>
            <p:cNvPicPr preferRelativeResize="0"/>
            <p:nvPr/>
          </p:nvPicPr>
          <p:blipFill rotWithShape="1">
            <a:blip r:embed="rId12">
              <a:alphaModFix/>
            </a:blip>
            <a:srcRect b="0" l="0" r="0" t="0"/>
            <a:stretch/>
          </p:blipFill>
          <p:spPr>
            <a:xfrm>
              <a:off x="3571251" y="2000250"/>
              <a:ext cx="228600" cy="304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5" name="Google Shape;415;p11"/>
          <p:cNvGrpSpPr/>
          <p:nvPr/>
        </p:nvGrpSpPr>
        <p:grpSpPr>
          <a:xfrm>
            <a:off x="5571305" y="2299211"/>
            <a:ext cx="571500" cy="571500"/>
            <a:chOff x="5762298" y="1866900"/>
            <a:chExt cx="571500" cy="571500"/>
          </a:xfrm>
        </p:grpSpPr>
        <p:pic>
          <p:nvPicPr>
            <p:cNvPr descr="preencoded.png" id="416" name="Google Shape;416;p11"/>
            <p:cNvPicPr preferRelativeResize="0"/>
            <p:nvPr/>
          </p:nvPicPr>
          <p:blipFill rotWithShape="1">
            <a:blip r:embed="rId13">
              <a:alphaModFix/>
            </a:blip>
            <a:srcRect b="0" l="0" r="0" t="0"/>
            <a:stretch/>
          </p:blipFill>
          <p:spPr>
            <a:xfrm>
              <a:off x="5762298" y="18669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17" name="Google Shape;417;p11"/>
            <p:cNvPicPr preferRelativeResize="0"/>
            <p:nvPr/>
          </p:nvPicPr>
          <p:blipFill rotWithShape="1">
            <a:blip r:embed="rId14">
              <a:alphaModFix/>
            </a:blip>
            <a:srcRect b="0" l="0" r="0" t="0"/>
            <a:stretch/>
          </p:blipFill>
          <p:spPr>
            <a:xfrm>
              <a:off x="5905173" y="2000250"/>
              <a:ext cx="285750" cy="304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18" name="Google Shape;418;p11"/>
          <p:cNvGrpSpPr/>
          <p:nvPr/>
        </p:nvGrpSpPr>
        <p:grpSpPr>
          <a:xfrm>
            <a:off x="7791421" y="2322796"/>
            <a:ext cx="571500" cy="571500"/>
            <a:chOff x="8216028" y="1866900"/>
            <a:chExt cx="571500" cy="571500"/>
          </a:xfrm>
        </p:grpSpPr>
        <p:pic>
          <p:nvPicPr>
            <p:cNvPr descr="preencoded.png" id="419" name="Google Shape;419;p11"/>
            <p:cNvPicPr preferRelativeResize="0"/>
            <p:nvPr/>
          </p:nvPicPr>
          <p:blipFill rotWithShape="1">
            <a:blip r:embed="rId15">
              <a:alphaModFix/>
            </a:blip>
            <a:srcRect b="0" l="0" r="0" t="0"/>
            <a:stretch/>
          </p:blipFill>
          <p:spPr>
            <a:xfrm>
              <a:off x="8216028" y="18669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20" name="Google Shape;420;p11"/>
            <p:cNvPicPr preferRelativeResize="0"/>
            <p:nvPr/>
          </p:nvPicPr>
          <p:blipFill rotWithShape="1">
            <a:blip r:embed="rId16">
              <a:alphaModFix/>
            </a:blip>
            <a:srcRect b="0" l="0" r="0" t="0"/>
            <a:stretch/>
          </p:blipFill>
          <p:spPr>
            <a:xfrm>
              <a:off x="8401765" y="2000250"/>
              <a:ext cx="200025" cy="3048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21" name="Google Shape;421;p11"/>
          <p:cNvGrpSpPr/>
          <p:nvPr/>
        </p:nvGrpSpPr>
        <p:grpSpPr>
          <a:xfrm>
            <a:off x="10031157" y="2322796"/>
            <a:ext cx="571500" cy="571500"/>
            <a:chOff x="10743427" y="1866900"/>
            <a:chExt cx="571500" cy="571500"/>
          </a:xfrm>
        </p:grpSpPr>
        <p:pic>
          <p:nvPicPr>
            <p:cNvPr descr="preencoded.png" id="422" name="Google Shape;422;p11"/>
            <p:cNvPicPr preferRelativeResize="0"/>
            <p:nvPr/>
          </p:nvPicPr>
          <p:blipFill rotWithShape="1">
            <a:blip r:embed="rId11">
              <a:alphaModFix/>
            </a:blip>
            <a:srcRect b="0" l="0" r="0" t="0"/>
            <a:stretch/>
          </p:blipFill>
          <p:spPr>
            <a:xfrm>
              <a:off x="10743427" y="1866900"/>
              <a:ext cx="571500" cy="571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preencoded.png" id="423" name="Google Shape;423;p11"/>
            <p:cNvPicPr preferRelativeResize="0"/>
            <p:nvPr/>
          </p:nvPicPr>
          <p:blipFill rotWithShape="1">
            <a:blip r:embed="rId17">
              <a:alphaModFix/>
            </a:blip>
            <a:srcRect b="0" l="0" r="0" t="0"/>
            <a:stretch/>
          </p:blipFill>
          <p:spPr>
            <a:xfrm>
              <a:off x="10914877" y="2000250"/>
              <a:ext cx="228600" cy="3048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24" name="Google Shape;424;p11"/>
          <p:cNvSpPr/>
          <p:nvPr/>
        </p:nvSpPr>
        <p:spPr>
          <a:xfrm>
            <a:off x="388619" y="3028950"/>
            <a:ext cx="214863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Registro e Inicio de Sesión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1"/>
          <p:cNvSpPr/>
          <p:nvPr/>
        </p:nvSpPr>
        <p:spPr>
          <a:xfrm>
            <a:off x="377257" y="3698482"/>
            <a:ext cx="2148640" cy="5770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Arial"/>
              <a:buNone/>
            </a:pP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Usuarios se registran o </a:t>
            </a:r>
            <a:r>
              <a:rPr lang="es-CL">
                <a:solidFill>
                  <a:srgbClr val="4B5563"/>
                </a:solidFill>
              </a:rPr>
              <a:t>inicia</a:t>
            </a: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 sesión con Supabase Auth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1"/>
          <p:cNvSpPr/>
          <p:nvPr/>
        </p:nvSpPr>
        <p:spPr>
          <a:xfrm>
            <a:off x="2600473" y="3028951"/>
            <a:ext cx="2116963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Metas y Cuestionario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1"/>
          <p:cNvSpPr/>
          <p:nvPr/>
        </p:nvSpPr>
        <p:spPr>
          <a:xfrm>
            <a:off x="2600115" y="3702616"/>
            <a:ext cx="2135948" cy="5831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Arial"/>
              <a:buNone/>
            </a:pP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Completar cuestionario inicial y definir metas de entrenamiento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1"/>
          <p:cNvSpPr/>
          <p:nvPr/>
        </p:nvSpPr>
        <p:spPr>
          <a:xfrm>
            <a:off x="4819947" y="3014890"/>
            <a:ext cx="2108623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Generación con IA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1"/>
          <p:cNvSpPr/>
          <p:nvPr/>
        </p:nvSpPr>
        <p:spPr>
          <a:xfrm>
            <a:off x="4819946" y="3688555"/>
            <a:ext cx="2134137" cy="5831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Arial"/>
              <a:buNone/>
            </a:pP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FastAPI llama a </a:t>
            </a:r>
            <a:r>
              <a:rPr lang="es-CL">
                <a:solidFill>
                  <a:srgbClr val="4B5563"/>
                </a:solidFill>
              </a:rPr>
              <a:t>Gemini-2.5-flash</a:t>
            </a:r>
            <a:r>
              <a:rPr lang="es-CL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4B para generar plan personalizado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1"/>
          <p:cNvSpPr/>
          <p:nvPr/>
        </p:nvSpPr>
        <p:spPr>
          <a:xfrm>
            <a:off x="7038419" y="3019425"/>
            <a:ext cx="1980835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Almacenamiento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1"/>
          <p:cNvSpPr/>
          <p:nvPr/>
        </p:nvSpPr>
        <p:spPr>
          <a:xfrm>
            <a:off x="7037072" y="3702616"/>
            <a:ext cx="2150367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Arial"/>
              <a:buNone/>
            </a:pP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Plan validado por FastAPI y almacenado en Supabase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1"/>
          <p:cNvSpPr/>
          <p:nvPr/>
        </p:nvSpPr>
        <p:spPr>
          <a:xfrm>
            <a:off x="9274168" y="3003370"/>
            <a:ext cx="2157772" cy="230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Arial"/>
              <a:buNone/>
            </a:pPr>
            <a:r>
              <a:rPr b="1" lang="es-CL" sz="1600">
                <a:solidFill>
                  <a:srgbClr val="374151"/>
                </a:solidFill>
                <a:latin typeface="Arial"/>
                <a:ea typeface="Arial"/>
                <a:cs typeface="Arial"/>
                <a:sym typeface="Arial"/>
              </a:rPr>
              <a:t>Visualización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1"/>
          <p:cNvSpPr/>
          <p:nvPr/>
        </p:nvSpPr>
        <p:spPr>
          <a:xfrm>
            <a:off x="9266756" y="3682378"/>
            <a:ext cx="2155881" cy="5831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Arial"/>
              <a:buNone/>
            </a:pPr>
            <a:r>
              <a:rPr lang="es-CL" sz="14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rPr>
              <a:t>App móvil lee y presenta el plan; usuario registra métricas</a:t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 flipH="1">
            <a:off x="0" y="-2"/>
            <a:ext cx="4125976" cy="6858002"/>
          </a:xfrm>
          <a:custGeom>
            <a:rect b="b" l="l" r="r" t="t"/>
            <a:pathLst>
              <a:path extrusionOk="0" h="6858002" w="4125976">
                <a:moveTo>
                  <a:pt x="4125976" y="0"/>
                </a:moveTo>
                <a:lnTo>
                  <a:pt x="1300393" y="0"/>
                </a:lnTo>
                <a:lnTo>
                  <a:pt x="1300393" y="2"/>
                </a:lnTo>
                <a:lnTo>
                  <a:pt x="1155520" y="2"/>
                </a:lnTo>
                <a:lnTo>
                  <a:pt x="1074856" y="88573"/>
                </a:lnTo>
                <a:cubicBezTo>
                  <a:pt x="422987" y="841260"/>
                  <a:pt x="0" y="2042663"/>
                  <a:pt x="0" y="3396600"/>
                </a:cubicBezTo>
                <a:cubicBezTo>
                  <a:pt x="0" y="4846647"/>
                  <a:pt x="488259" y="6121285"/>
                  <a:pt x="1222540" y="6858002"/>
                </a:cubicBezTo>
                <a:cubicBezTo>
                  <a:pt x="4125598" y="6858002"/>
                  <a:pt x="4125598" y="6858002"/>
                  <a:pt x="4125598" y="6858002"/>
                </a:cubicBezTo>
                <a:lnTo>
                  <a:pt x="4125976" y="6857600"/>
                </a:lnTo>
                <a:close/>
              </a:path>
            </a:pathLst>
          </a:cu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 txBox="1"/>
          <p:nvPr>
            <p:ph type="title"/>
          </p:nvPr>
        </p:nvSpPr>
        <p:spPr>
          <a:xfrm>
            <a:off x="206477" y="-2"/>
            <a:ext cx="3421626" cy="6646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lang="es-CL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HISTORIAS DE USUARIO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441" name="Google Shape;441;p12"/>
          <p:cNvGraphicFramePr/>
          <p:nvPr/>
        </p:nvGraphicFramePr>
        <p:xfrm>
          <a:off x="4322619" y="166500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756475"/>
                <a:gridCol w="1337175"/>
                <a:gridCol w="1046825"/>
                <a:gridCol w="1380650"/>
                <a:gridCol w="1473825"/>
                <a:gridCol w="1553000"/>
              </a:tblGrid>
              <a:tr h="640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ID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Módulo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Rol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Objetivo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Beneficio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Criterios de Aceptación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88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HU-01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Autenticación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Nadador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Registro por correo seguro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Acceso personalizado SmartSwim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Validación formato y fuerza contraseña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HU-05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Generación IA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Usuario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Solicitar plan personalizado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Propuesta adaptada y validada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API Redis, IA Gemini-2.5-flash, Pydantic JSON</a:t>
                      </a:r>
                      <a:endParaRPr/>
                    </a:p>
                  </a:txBody>
                  <a:tcPr marT="42400" marB="42400" marR="42400" marL="4240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3"/>
          <p:cNvSpPr/>
          <p:nvPr/>
        </p:nvSpPr>
        <p:spPr>
          <a:xfrm>
            <a:off x="0" y="0"/>
            <a:ext cx="12188825" cy="2284214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3"/>
          <p:cNvSpPr/>
          <p:nvPr/>
        </p:nvSpPr>
        <p:spPr>
          <a:xfrm>
            <a:off x="0" y="0"/>
            <a:ext cx="12192000" cy="2284214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9" name="Google Shape;449;p13"/>
          <p:cNvPicPr preferRelativeResize="0"/>
          <p:nvPr/>
        </p:nvPicPr>
        <p:blipFill rotWithShape="1">
          <a:blip r:embed="rId4">
            <a:alphaModFix/>
          </a:blip>
          <a:srcRect b="66684" l="0" r="0" t="0"/>
          <a:stretch/>
        </p:blipFill>
        <p:spPr>
          <a:xfrm>
            <a:off x="-3175" y="0"/>
            <a:ext cx="12188825" cy="2284214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13"/>
          <p:cNvSpPr txBox="1"/>
          <p:nvPr>
            <p:ph type="title"/>
          </p:nvPr>
        </p:nvSpPr>
        <p:spPr>
          <a:xfrm>
            <a:off x="1028700" y="653142"/>
            <a:ext cx="1013142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lang="es-CL" sz="4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CASOS DE USO</a:t>
            </a:r>
            <a:endParaRPr sz="4400">
              <a:solidFill>
                <a:srgbClr val="FFFFFF"/>
              </a:solidFill>
            </a:endParaRPr>
          </a:p>
        </p:txBody>
      </p:sp>
      <p:graphicFrame>
        <p:nvGraphicFramePr>
          <p:cNvPr id="451" name="Google Shape;451;p13"/>
          <p:cNvGraphicFramePr/>
          <p:nvPr/>
        </p:nvGraphicFramePr>
        <p:xfrm>
          <a:off x="399011" y="252548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{CD5668D6-9AE3-477C-AFB1-B542EA2C8E01}</a:tableStyleId>
              </a:tblPr>
              <a:tblGrid>
                <a:gridCol w="441250"/>
                <a:gridCol w="1320975"/>
                <a:gridCol w="1071700"/>
                <a:gridCol w="1154100"/>
                <a:gridCol w="1793825"/>
                <a:gridCol w="2770175"/>
                <a:gridCol w="1293125"/>
                <a:gridCol w="1476800"/>
              </a:tblGrid>
              <a:tr h="99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ID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Módulo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Actor Principal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Propósito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Precondiciones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Flujo Principal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Flujo Alternativo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s-CL" sz="1600" u="none" cap="none" strike="noStrike"/>
                        <a:t>Postcondición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99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CU-03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Autenticación Supabase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Usuario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Autenticar acceso seguro en la app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Credenciales válidas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Email/contraseña → Supabase Auth → retorna JWT → local → requests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Falla: error, recuperación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Usuario autenticado, JWT válido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92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CU-05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Generación de Planes IA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Usuario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Solicitar plan personalizado con IA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Meta activa registrada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Solicitud → Tarea Redis → IA Ollama → Validación → Almacenamiento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Reintentos si IA falla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s-CL" sz="1600" u="none" cap="none" strike="noStrike"/>
                        <a:t>Plan generado y vinculado</a:t>
                      </a:r>
                      <a:endParaRPr/>
                    </a:p>
                  </a:txBody>
                  <a:tcPr marT="34650" marB="34650" marR="34650" marL="34650" anchor="ctr">
                    <a:lnL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DDD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6" name="Google Shape;45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14"/>
          <p:cNvSpPr txBox="1"/>
          <p:nvPr>
            <p:ph type="title"/>
          </p:nvPr>
        </p:nvSpPr>
        <p:spPr>
          <a:xfrm>
            <a:off x="-2027941" y="-142912"/>
            <a:ext cx="10127192" cy="9313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/>
              <a:t>PANTALLAZOS</a:t>
            </a:r>
            <a:endParaRPr sz="4000"/>
          </a:p>
        </p:txBody>
      </p:sp>
      <p:pic>
        <p:nvPicPr>
          <p:cNvPr descr="Una captura de pantalla de un celular&#10;&#10;El contenido generado por IA puede ser incorrecto." id="458" name="Google Shape;458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15089" y="501355"/>
            <a:ext cx="1480200" cy="6167400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  <p:pic>
        <p:nvPicPr>
          <p:cNvPr descr="Interfaz de usuario gráfica, Aplicación&#10;&#10;El contenido generado por IA puede ser incorrecto." id="459" name="Google Shape;45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138744" y="788428"/>
            <a:ext cx="2538798" cy="5737398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  <p:pic>
        <p:nvPicPr>
          <p:cNvPr descr="Interfaz de usuario gráfica, Aplicación&#10;&#10;El contenido generado por IA puede ser incorrecto." id="460" name="Google Shape;460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229637" y="931340"/>
            <a:ext cx="2538798" cy="5737398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5" name="Google Shape;46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88825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15"/>
          <p:cNvSpPr txBox="1"/>
          <p:nvPr>
            <p:ph type="title"/>
          </p:nvPr>
        </p:nvSpPr>
        <p:spPr>
          <a:xfrm>
            <a:off x="1032933" y="4534958"/>
            <a:ext cx="10127192" cy="9313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/>
              <a:t>PANTALLAZOS</a:t>
            </a:r>
            <a:endParaRPr sz="4000"/>
          </a:p>
        </p:txBody>
      </p:sp>
      <p:pic>
        <p:nvPicPr>
          <p:cNvPr descr="Interfaz de usuario gráfica, Texto, Aplicación, Correo electrónico&#10;&#10;El contenido generado por IA puede ser incorrecto." id="467" name="Google Shape;46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87702" y="796792"/>
            <a:ext cx="1644793" cy="3738166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  <p:pic>
        <p:nvPicPr>
          <p:cNvPr descr="Interfaz de usuario gráfica, Aplicación&#10;&#10;El contenido generado por IA puede ser incorrecto." id="468" name="Google Shape;46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32601" y="796792"/>
            <a:ext cx="1654138" cy="3738166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  <p:pic>
        <p:nvPicPr>
          <p:cNvPr descr="Interfaz de usuario gráfica, Aplicación&#10;&#10;El contenido generado por IA puede ser incorrecto." id="469" name="Google Shape;46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620361" y="796792"/>
            <a:ext cx="1654138" cy="3738166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  <p:pic>
        <p:nvPicPr>
          <p:cNvPr descr="Interfaz de usuario gráfica, Texto, Aplicación, Carta, Correo electrónico&#10;&#10;El contenido generado por IA puede ser incorrecto." id="470" name="Google Shape;47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574605" y="796792"/>
            <a:ext cx="1672829" cy="3738166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16"/>
          <p:cNvSpPr txBox="1"/>
          <p:nvPr>
            <p:ph type="title"/>
          </p:nvPr>
        </p:nvSpPr>
        <p:spPr>
          <a:xfrm>
            <a:off x="685802" y="609600"/>
            <a:ext cx="6282266" cy="14562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s-CL"/>
              <a:t>CONCLUSIÓN</a:t>
            </a:r>
            <a:endParaRPr b="1"/>
          </a:p>
        </p:txBody>
      </p:sp>
      <p:sp>
        <p:nvSpPr>
          <p:cNvPr id="477" name="Google Shape;477;p16"/>
          <p:cNvSpPr txBox="1"/>
          <p:nvPr>
            <p:ph idx="1" type="body"/>
          </p:nvPr>
        </p:nvSpPr>
        <p:spPr>
          <a:xfrm>
            <a:off x="685802" y="2142067"/>
            <a:ext cx="6282266" cy="36491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es-CL"/>
              <a:t>"Así como Michael Phelps transformó cada brazada en oro olímpico, en SmartSwim convertimos cada dato en progreso, cada algoritmo en un entrenador personal, y cada nadador en su propia leyenda."</a:t>
            </a:r>
            <a:endParaRPr/>
          </a:p>
        </p:txBody>
      </p:sp>
      <p:pic>
        <p:nvPicPr>
          <p:cNvPr descr="Logotipo, nombre de la empresa&#10;&#10;El contenido generado por IA puede ser incorrecto." id="478" name="Google Shape;47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90936" y="1668042"/>
            <a:ext cx="3445714" cy="3445714"/>
          </a:xfrm>
          <a:prstGeom prst="roundRect">
            <a:avLst>
              <a:gd fmla="val 4380" name="adj"/>
            </a:avLst>
          </a:prstGeom>
          <a:noFill/>
          <a:ln cap="sq" cmpd="dbl" w="508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254000" rotWithShape="0" algn="tl">
              <a:srgbClr val="000000">
                <a:alpha val="42745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elestial">
  <a:themeElements>
    <a:clrScheme name="Celestial">
      <a:dk1>
        <a:srgbClr val="000000"/>
      </a:dk1>
      <a:lt1>
        <a:srgbClr val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Celestial">
  <a:themeElements>
    <a:clrScheme name="Celestial">
      <a:dk1>
        <a:srgbClr val="000000"/>
      </a:dk1>
      <a:lt1>
        <a:srgbClr val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2025-09-15T00:50:22Z</dcterms:created>
  <dc:creator>Patricio Lagos</dc:creator>
</cp:coreProperties>
</file>