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tM/8tkzB7ooTlGZnP4GoVKPzv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EDE768-CCEA-40D2-9991-FEF43693E3C9}">
  <a:tblStyle styleId="{F9EDE768-CCEA-40D2-9991-FEF43693E3C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2">
              <a:alpha val="40000"/>
            </a:schemeClr>
          </a:solidFill>
        </a:fill>
      </a:tcStyle>
    </a:band1H>
    <a:band2H>
      <a:tcTxStyle b="off" i="off"/>
    </a:band2H>
    <a:band1V>
      <a:tcTxStyle b="off" i="off"/>
      <a:tcStyle>
        <a:tcBdr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TxStyle b="off" i="off"/>
    </a:band2V>
    <a:lastCol>
      <a:tcTxStyle b="on" i="off"/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2"/>
          </a:solidFill>
        </a:fill>
      </a:tcStyle>
    </a:firstRow>
    <a:neCell>
      <a:tcTxStyle b="off" i="off"/>
    </a:neCell>
    <a:nwCell>
      <a:tcTxStyle b="off" i="off"/>
    </a:nwCell>
  </a:tblStyle>
  <a:tblStyle styleId="{468D3777-618D-4753-964E-3F47466E941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171B7778-A40B-4801-A067-C85D4C86F985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1">
              <a:alpha val="40000"/>
            </a:schemeClr>
          </a:solidFill>
        </a:fill>
      </a:tcStyle>
    </a:band1H>
    <a:band2H>
      <a:tcTxStyle b="off" i="off"/>
    </a:band2H>
    <a:band1V>
      <a:tcTxStyle b="off" i="off"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 b="off" i="off"/>
    </a:band2V>
    <a:la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TitleHD.png" id="16" name="Google Shape;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9"/>
          <p:cNvSpPr txBox="1"/>
          <p:nvPr>
            <p:ph type="ctrTitle"/>
          </p:nvPr>
        </p:nvSpPr>
        <p:spPr>
          <a:xfrm>
            <a:off x="3962399" y="1964267"/>
            <a:ext cx="7197726" cy="24214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" type="subTitle"/>
          </p:nvPr>
        </p:nvSpPr>
        <p:spPr>
          <a:xfrm>
            <a:off x="3962399" y="4385732"/>
            <a:ext cx="7197726" cy="140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23" name="Google Shape;2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1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30" name="Google Shape;3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6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36" name="Google Shape;3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3"/>
          <p:cNvSpPr txBox="1"/>
          <p:nvPr>
            <p:ph type="title"/>
          </p:nvPr>
        </p:nvSpPr>
        <p:spPr>
          <a:xfrm>
            <a:off x="685800" y="3308581"/>
            <a:ext cx="10131427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" type="body"/>
          </p:nvPr>
        </p:nvSpPr>
        <p:spPr>
          <a:xfrm>
            <a:off x="685799" y="4777381"/>
            <a:ext cx="1013142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23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43" name="Google Shape;4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4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" type="body"/>
          </p:nvPr>
        </p:nvSpPr>
        <p:spPr>
          <a:xfrm>
            <a:off x="685802" y="2142067"/>
            <a:ext cx="4995334" cy="3649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2" type="body"/>
          </p:nvPr>
        </p:nvSpPr>
        <p:spPr>
          <a:xfrm>
            <a:off x="5821895" y="2142067"/>
            <a:ext cx="4995332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" type="body"/>
          </p:nvPr>
        </p:nvSpPr>
        <p:spPr>
          <a:xfrm>
            <a:off x="973670" y="2218267"/>
            <a:ext cx="47090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5"/>
          <p:cNvSpPr txBox="1"/>
          <p:nvPr>
            <p:ph idx="2" type="body"/>
          </p:nvPr>
        </p:nvSpPr>
        <p:spPr>
          <a:xfrm>
            <a:off x="685801" y="2870201"/>
            <a:ext cx="4996923" cy="2920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3" type="body"/>
          </p:nvPr>
        </p:nvSpPr>
        <p:spPr>
          <a:xfrm>
            <a:off x="6096003" y="2226734"/>
            <a:ext cx="47228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5"/>
          <p:cNvSpPr txBox="1"/>
          <p:nvPr>
            <p:ph idx="4" type="body"/>
          </p:nvPr>
        </p:nvSpPr>
        <p:spPr>
          <a:xfrm>
            <a:off x="5823483" y="2870201"/>
            <a:ext cx="4995334" cy="2920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60" name="Google Shape;6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7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7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65" name="Google Shape;6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8"/>
          <p:cNvSpPr txBox="1"/>
          <p:nvPr>
            <p:ph type="title"/>
          </p:nvPr>
        </p:nvSpPr>
        <p:spPr>
          <a:xfrm>
            <a:off x="685800" y="2074333"/>
            <a:ext cx="368088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" type="body"/>
          </p:nvPr>
        </p:nvSpPr>
        <p:spPr>
          <a:xfrm>
            <a:off x="4648201" y="609601"/>
            <a:ext cx="6169026" cy="5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8"/>
          <p:cNvSpPr txBox="1"/>
          <p:nvPr>
            <p:ph idx="2" type="body"/>
          </p:nvPr>
        </p:nvSpPr>
        <p:spPr>
          <a:xfrm>
            <a:off x="685800" y="3445933"/>
            <a:ext cx="368088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73" name="Google Shape;7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9"/>
          <p:cNvSpPr txBox="1"/>
          <p:nvPr>
            <p:ph type="title"/>
          </p:nvPr>
        </p:nvSpPr>
        <p:spPr>
          <a:xfrm>
            <a:off x="685800" y="1600200"/>
            <a:ext cx="616465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9"/>
          <p:cNvSpPr/>
          <p:nvPr>
            <p:ph idx="2" type="pic"/>
          </p:nvPr>
        </p:nvSpPr>
        <p:spPr>
          <a:xfrm>
            <a:off x="7536253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1568"/>
              </a:srgbClr>
            </a:outerShdw>
          </a:effectLst>
        </p:spPr>
      </p:sp>
      <p:sp>
        <p:nvSpPr>
          <p:cNvPr id="76" name="Google Shape;76;p29"/>
          <p:cNvSpPr txBox="1"/>
          <p:nvPr>
            <p:ph idx="1" type="body"/>
          </p:nvPr>
        </p:nvSpPr>
        <p:spPr>
          <a:xfrm>
            <a:off x="685800" y="2971800"/>
            <a:ext cx="6164653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81" name="Google Shape;8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0"/>
          <p:cNvSpPr txBox="1"/>
          <p:nvPr>
            <p:ph type="title"/>
          </p:nvPr>
        </p:nvSpPr>
        <p:spPr>
          <a:xfrm>
            <a:off x="685800" y="4732865"/>
            <a:ext cx="1013142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/>
          <p:nvPr>
            <p:ph idx="2" type="pic"/>
          </p:nvPr>
        </p:nvSpPr>
        <p:spPr>
          <a:xfrm>
            <a:off x="1371600" y="932112"/>
            <a:ext cx="8759827" cy="3164976"/>
          </a:xfrm>
          <a:prstGeom prst="roundRect">
            <a:avLst>
              <a:gd fmla="val 43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1568"/>
              </a:srgbClr>
            </a:outerShdw>
          </a:effectLst>
        </p:spPr>
      </p:sp>
      <p:sp>
        <p:nvSpPr>
          <p:cNvPr id="84" name="Google Shape;84;p30"/>
          <p:cNvSpPr txBox="1"/>
          <p:nvPr>
            <p:ph idx="1" type="body"/>
          </p:nvPr>
        </p:nvSpPr>
        <p:spPr>
          <a:xfrm>
            <a:off x="685800" y="5299603"/>
            <a:ext cx="10131427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30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89" name="Google Shape;8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1"/>
          <p:cNvSpPr txBox="1"/>
          <p:nvPr>
            <p:ph type="title"/>
          </p:nvPr>
        </p:nvSpPr>
        <p:spPr>
          <a:xfrm>
            <a:off x="685801" y="609601"/>
            <a:ext cx="10131427" cy="3124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1" type="body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31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1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1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96" name="Google Shape;96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i="0" lang="es-CL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i="0" lang="es-CL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2"/>
          <p:cNvSpPr txBox="1"/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2"/>
          <p:cNvSpPr txBox="1"/>
          <p:nvPr>
            <p:ph idx="1" type="body"/>
          </p:nvPr>
        </p:nvSpPr>
        <p:spPr>
          <a:xfrm>
            <a:off x="1097875" y="3352800"/>
            <a:ext cx="933918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32"/>
          <p:cNvSpPr txBox="1"/>
          <p:nvPr>
            <p:ph idx="2" type="body"/>
          </p:nvPr>
        </p:nvSpPr>
        <p:spPr>
          <a:xfrm>
            <a:off x="687465" y="4343400"/>
            <a:ext cx="10152367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32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2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2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06" name="Google Shape;10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3"/>
          <p:cNvSpPr txBox="1"/>
          <p:nvPr>
            <p:ph type="title"/>
          </p:nvPr>
        </p:nvSpPr>
        <p:spPr>
          <a:xfrm>
            <a:off x="685802" y="3308581"/>
            <a:ext cx="10131425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3"/>
          <p:cNvSpPr txBox="1"/>
          <p:nvPr>
            <p:ph idx="1" type="body"/>
          </p:nvPr>
        </p:nvSpPr>
        <p:spPr>
          <a:xfrm>
            <a:off x="685801" y="4777381"/>
            <a:ext cx="10131426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33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3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3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13" name="Google Shape;11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i="0" lang="es-CL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4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b="0" i="0" lang="es-CL" sz="8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4"/>
          <p:cNvSpPr txBox="1"/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0" sz="320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4"/>
          <p:cNvSpPr txBox="1"/>
          <p:nvPr>
            <p:ph idx="1" type="body"/>
          </p:nvPr>
        </p:nvSpPr>
        <p:spPr>
          <a:xfrm>
            <a:off x="685800" y="3886200"/>
            <a:ext cx="10135436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sz="24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34"/>
          <p:cNvSpPr txBox="1"/>
          <p:nvPr>
            <p:ph idx="2" type="body"/>
          </p:nvPr>
        </p:nvSpPr>
        <p:spPr>
          <a:xfrm>
            <a:off x="685799" y="4775200"/>
            <a:ext cx="10135436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34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4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4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23" name="Google Shape;12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5"/>
          <p:cNvSpPr txBox="1"/>
          <p:nvPr>
            <p:ph type="title"/>
          </p:nvPr>
        </p:nvSpPr>
        <p:spPr>
          <a:xfrm>
            <a:off x="685801" y="609601"/>
            <a:ext cx="10131427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5"/>
          <p:cNvSpPr txBox="1"/>
          <p:nvPr>
            <p:ph idx="1" type="body"/>
          </p:nvPr>
        </p:nvSpPr>
        <p:spPr>
          <a:xfrm>
            <a:off x="685801" y="3505200"/>
            <a:ext cx="10131428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28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35"/>
          <p:cNvSpPr txBox="1"/>
          <p:nvPr>
            <p:ph idx="2" type="body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35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5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5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31" name="Google Shape;13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6"/>
          <p:cNvSpPr txBox="1"/>
          <p:nvPr>
            <p:ph idx="1" type="body"/>
          </p:nvPr>
        </p:nvSpPr>
        <p:spPr>
          <a:xfrm rot="5400000">
            <a:off x="3926947" y="-1099079"/>
            <a:ext cx="3649133" cy="1013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36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6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6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136" name="Google Shape;136;p36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38" name="Google Shape;13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7"/>
          <p:cNvSpPr txBox="1"/>
          <p:nvPr>
            <p:ph type="title"/>
          </p:nvPr>
        </p:nvSpPr>
        <p:spPr>
          <a:xfrm rot="5400000">
            <a:off x="7147151" y="2121124"/>
            <a:ext cx="5181601" cy="2158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7"/>
          <p:cNvSpPr txBox="1"/>
          <p:nvPr>
            <p:ph idx="1" type="body"/>
          </p:nvPr>
        </p:nvSpPr>
        <p:spPr>
          <a:xfrm rot="5400000">
            <a:off x="2011058" y="-715658"/>
            <a:ext cx="5181600" cy="78321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37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7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7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8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 i="0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3.png"/><Relationship Id="rId5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jpg"/><Relationship Id="rId4" Type="http://schemas.openxmlformats.org/officeDocument/2006/relationships/image" Target="../media/image3.png"/><Relationship Id="rId5" Type="http://schemas.openxmlformats.org/officeDocument/2006/relationships/image" Target="../media/image31.jpg"/><Relationship Id="rId6" Type="http://schemas.openxmlformats.org/officeDocument/2006/relationships/image" Target="../media/image29.jpg"/><Relationship Id="rId7" Type="http://schemas.openxmlformats.org/officeDocument/2006/relationships/image" Target="../media/image30.jpg"/><Relationship Id="rId8" Type="http://schemas.openxmlformats.org/officeDocument/2006/relationships/image" Target="../media/image2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jpg"/><Relationship Id="rId4" Type="http://schemas.openxmlformats.org/officeDocument/2006/relationships/image" Target="../media/image3.png"/><Relationship Id="rId5" Type="http://schemas.openxmlformats.org/officeDocument/2006/relationships/image" Target="../media/image41.jpg"/><Relationship Id="rId6" Type="http://schemas.openxmlformats.org/officeDocument/2006/relationships/image" Target="../media/image35.jpg"/><Relationship Id="rId7" Type="http://schemas.openxmlformats.org/officeDocument/2006/relationships/image" Target="../media/image34.jpg"/><Relationship Id="rId8" Type="http://schemas.openxmlformats.org/officeDocument/2006/relationships/image" Target="../media/image3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jpg"/><Relationship Id="rId4" Type="http://schemas.openxmlformats.org/officeDocument/2006/relationships/image" Target="../media/image3.png"/><Relationship Id="rId5" Type="http://schemas.openxmlformats.org/officeDocument/2006/relationships/image" Target="../media/image44.jpg"/><Relationship Id="rId6" Type="http://schemas.openxmlformats.org/officeDocument/2006/relationships/image" Target="../media/image33.jpg"/><Relationship Id="rId7" Type="http://schemas.openxmlformats.org/officeDocument/2006/relationships/image" Target="../media/image39.jpg"/><Relationship Id="rId8" Type="http://schemas.openxmlformats.org/officeDocument/2006/relationships/image" Target="../media/image3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jpg"/><Relationship Id="rId4" Type="http://schemas.openxmlformats.org/officeDocument/2006/relationships/image" Target="../media/image3.png"/><Relationship Id="rId5" Type="http://schemas.openxmlformats.org/officeDocument/2006/relationships/image" Target="../media/image42.jpg"/><Relationship Id="rId6" Type="http://schemas.openxmlformats.org/officeDocument/2006/relationships/image" Target="../media/image40.jpg"/><Relationship Id="rId7" Type="http://schemas.openxmlformats.org/officeDocument/2006/relationships/image" Target="../media/image32.jpg"/><Relationship Id="rId8" Type="http://schemas.openxmlformats.org/officeDocument/2006/relationships/image" Target="../media/image4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4">
            <a:alphaModFix/>
          </a:blip>
          <a:srcRect b="0" l="0" r="51622" t="0"/>
          <a:stretch/>
        </p:blipFill>
        <p:spPr>
          <a:xfrm>
            <a:off x="1" y="0"/>
            <a:ext cx="5896768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"/>
          <p:cNvSpPr txBox="1"/>
          <p:nvPr>
            <p:ph type="ctrTitle"/>
          </p:nvPr>
        </p:nvSpPr>
        <p:spPr>
          <a:xfrm>
            <a:off x="0" y="431800"/>
            <a:ext cx="58275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lang="es-CL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CAPSTONE </a:t>
            </a:r>
            <a:endParaRPr/>
          </a:p>
        </p:txBody>
      </p:sp>
      <p:sp>
        <p:nvSpPr>
          <p:cNvPr id="151" name="Google Shape;151;p1"/>
          <p:cNvSpPr/>
          <p:nvPr/>
        </p:nvSpPr>
        <p:spPr>
          <a:xfrm>
            <a:off x="5827529" y="660400"/>
            <a:ext cx="6381405" cy="6214533"/>
          </a:xfrm>
          <a:custGeom>
            <a:rect b="b" l="l" r="r" t="t"/>
            <a:pathLst>
              <a:path extrusionOk="0" h="1298" w="1333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lt1"/>
          </a:solidFill>
          <a:ln cap="sq" cmpd="dbl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1568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5281603" y="104899"/>
            <a:ext cx="6896713" cy="6005491"/>
          </a:xfrm>
          <a:custGeom>
            <a:rect b="b" l="l" r="r" t="t"/>
            <a:pathLst>
              <a:path extrusionOk="0" h="6005491" w="6896713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078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oogle Shape;153;p1"/>
          <p:cNvGrpSpPr/>
          <p:nvPr/>
        </p:nvGrpSpPr>
        <p:grpSpPr>
          <a:xfrm>
            <a:off x="5516218" y="331504"/>
            <a:ext cx="6675782" cy="5276654"/>
            <a:chOff x="5516218" y="331504"/>
            <a:chExt cx="6675782" cy="5276654"/>
          </a:xfrm>
        </p:grpSpPr>
        <p:cxnSp>
          <p:nvCxnSpPr>
            <p:cNvPr id="154" name="Google Shape;154;p1"/>
            <p:cNvCxnSpPr/>
            <p:nvPr/>
          </p:nvCxnSpPr>
          <p:spPr>
            <a:xfrm flipH="1">
              <a:off x="9266830" y="331504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1"/>
            <p:cNvCxnSpPr/>
            <p:nvPr/>
          </p:nvCxnSpPr>
          <p:spPr>
            <a:xfrm flipH="1" rot="120000">
              <a:off x="9408861" y="338328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1"/>
            <p:cNvCxnSpPr/>
            <p:nvPr/>
          </p:nvCxnSpPr>
          <p:spPr>
            <a:xfrm flipH="1" rot="240000">
              <a:off x="9551700" y="347636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1"/>
            <p:cNvCxnSpPr/>
            <p:nvPr/>
          </p:nvCxnSpPr>
          <p:spPr>
            <a:xfrm flipH="1" rot="360000">
              <a:off x="9688748" y="368088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1"/>
            <p:cNvCxnSpPr/>
            <p:nvPr/>
          </p:nvCxnSpPr>
          <p:spPr>
            <a:xfrm flipH="1" rot="540000">
              <a:off x="9824866" y="389224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1"/>
            <p:cNvCxnSpPr/>
            <p:nvPr/>
          </p:nvCxnSpPr>
          <p:spPr>
            <a:xfrm flipH="1" rot="660000">
              <a:off x="9966867" y="417549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1"/>
            <p:cNvCxnSpPr/>
            <p:nvPr/>
          </p:nvCxnSpPr>
          <p:spPr>
            <a:xfrm flipH="1" rot="780000">
              <a:off x="10104425" y="445874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1"/>
            <p:cNvCxnSpPr/>
            <p:nvPr/>
          </p:nvCxnSpPr>
          <p:spPr>
            <a:xfrm flipH="1" rot="900000">
              <a:off x="10240513" y="479483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1"/>
            <p:cNvCxnSpPr/>
            <p:nvPr/>
          </p:nvCxnSpPr>
          <p:spPr>
            <a:xfrm flipH="1" rot="1080000">
              <a:off x="10373882" y="524355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1"/>
            <p:cNvCxnSpPr/>
            <p:nvPr/>
          </p:nvCxnSpPr>
          <p:spPr>
            <a:xfrm flipH="1" rot="1200000">
              <a:off x="10505632" y="570628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1"/>
            <p:cNvCxnSpPr/>
            <p:nvPr/>
          </p:nvCxnSpPr>
          <p:spPr>
            <a:xfrm flipH="1" rot="1320000">
              <a:off x="10637382" y="621344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1"/>
            <p:cNvCxnSpPr/>
            <p:nvPr/>
          </p:nvCxnSpPr>
          <p:spPr>
            <a:xfrm flipH="1" rot="1440000">
              <a:off x="10760965" y="690439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1"/>
            <p:cNvCxnSpPr/>
            <p:nvPr/>
          </p:nvCxnSpPr>
          <p:spPr>
            <a:xfrm flipH="1" rot="1620000">
              <a:off x="10888991" y="755091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1"/>
            <p:cNvCxnSpPr/>
            <p:nvPr/>
          </p:nvCxnSpPr>
          <p:spPr>
            <a:xfrm flipH="1" rot="1740000">
              <a:off x="11010193" y="819743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1"/>
            <p:cNvCxnSpPr/>
            <p:nvPr/>
          </p:nvCxnSpPr>
          <p:spPr>
            <a:xfrm flipH="1" rot="1860000">
              <a:off x="11129014" y="895662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1"/>
            <p:cNvCxnSpPr/>
            <p:nvPr/>
          </p:nvCxnSpPr>
          <p:spPr>
            <a:xfrm flipH="1" rot="1980000">
              <a:off x="11249872" y="968091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1"/>
            <p:cNvCxnSpPr/>
            <p:nvPr/>
          </p:nvCxnSpPr>
          <p:spPr>
            <a:xfrm flipH="1" rot="2160000">
              <a:off x="11366875" y="1048084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1"/>
            <p:cNvCxnSpPr/>
            <p:nvPr/>
          </p:nvCxnSpPr>
          <p:spPr>
            <a:xfrm flipH="1" rot="2280000">
              <a:off x="11474058" y="1131525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1"/>
            <p:cNvCxnSpPr/>
            <p:nvPr/>
          </p:nvCxnSpPr>
          <p:spPr>
            <a:xfrm flipH="1" rot="2400000">
              <a:off x="11583303" y="1221790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" name="Google Shape;173;p1"/>
            <p:cNvCxnSpPr/>
            <p:nvPr/>
          </p:nvCxnSpPr>
          <p:spPr>
            <a:xfrm flipH="1" rot="2520000">
              <a:off x="11685344" y="1321772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" name="Google Shape;174;p1"/>
            <p:cNvCxnSpPr/>
            <p:nvPr/>
          </p:nvCxnSpPr>
          <p:spPr>
            <a:xfrm flipH="1" rot="2700000">
              <a:off x="11787704" y="1417630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" name="Google Shape;175;p1"/>
            <p:cNvCxnSpPr/>
            <p:nvPr/>
          </p:nvCxnSpPr>
          <p:spPr>
            <a:xfrm flipH="1" rot="2820000">
              <a:off x="11880859" y="1517931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" name="Google Shape;176;p1"/>
            <p:cNvCxnSpPr/>
            <p:nvPr/>
          </p:nvCxnSpPr>
          <p:spPr>
            <a:xfrm flipH="1" rot="2940000">
              <a:off x="11969252" y="1627437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1"/>
            <p:cNvCxnSpPr/>
            <p:nvPr/>
          </p:nvCxnSpPr>
          <p:spPr>
            <a:xfrm flipH="1" rot="3060000">
              <a:off x="12062016" y="1736011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" name="Google Shape;178;p1"/>
            <p:cNvCxnSpPr/>
            <p:nvPr/>
          </p:nvCxnSpPr>
          <p:spPr>
            <a:xfrm flipH="1">
              <a:off x="12074680" y="1910249"/>
              <a:ext cx="117320" cy="82912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1"/>
            <p:cNvCxnSpPr/>
            <p:nvPr/>
          </p:nvCxnSpPr>
          <p:spPr>
            <a:xfrm flipH="1">
              <a:off x="12149943" y="2083594"/>
              <a:ext cx="39676" cy="21436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1"/>
            <p:cNvCxnSpPr/>
            <p:nvPr/>
          </p:nvCxnSpPr>
          <p:spPr>
            <a:xfrm flipH="1" rot="-180000">
              <a:off x="9127990" y="334251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1"/>
            <p:cNvCxnSpPr/>
            <p:nvPr/>
          </p:nvCxnSpPr>
          <p:spPr>
            <a:xfrm flipH="1" rot="-300000">
              <a:off x="8987576" y="336633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1"/>
            <p:cNvCxnSpPr/>
            <p:nvPr/>
          </p:nvCxnSpPr>
          <p:spPr>
            <a:xfrm flipH="1" rot="-420000">
              <a:off x="8844859" y="351176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" name="Google Shape;183;p1"/>
            <p:cNvCxnSpPr/>
            <p:nvPr/>
          </p:nvCxnSpPr>
          <p:spPr>
            <a:xfrm flipH="1" rot="-540000">
              <a:off x="8706904" y="365719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4" name="Google Shape;184;p1"/>
            <p:cNvCxnSpPr/>
            <p:nvPr/>
          </p:nvCxnSpPr>
          <p:spPr>
            <a:xfrm flipH="1" rot="-720000">
              <a:off x="8568008" y="387891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5" name="Google Shape;185;p1"/>
            <p:cNvCxnSpPr/>
            <p:nvPr/>
          </p:nvCxnSpPr>
          <p:spPr>
            <a:xfrm flipH="1" rot="-840000">
              <a:off x="8429112" y="410063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" name="Google Shape;186;p1"/>
            <p:cNvCxnSpPr/>
            <p:nvPr/>
          </p:nvCxnSpPr>
          <p:spPr>
            <a:xfrm flipH="1" rot="-960000">
              <a:off x="8294968" y="446219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1"/>
            <p:cNvCxnSpPr/>
            <p:nvPr/>
          </p:nvCxnSpPr>
          <p:spPr>
            <a:xfrm flipH="1" rot="-1080000">
              <a:off x="8160824" y="482375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1"/>
            <p:cNvCxnSpPr/>
            <p:nvPr/>
          </p:nvCxnSpPr>
          <p:spPr>
            <a:xfrm flipH="1" rot="-1260000">
              <a:off x="8027689" y="531848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9" name="Google Shape;189;p1"/>
            <p:cNvCxnSpPr/>
            <p:nvPr/>
          </p:nvCxnSpPr>
          <p:spPr>
            <a:xfrm flipH="1" rot="-1380000">
              <a:off x="7894554" y="581321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" name="Google Shape;190;p1"/>
            <p:cNvCxnSpPr/>
            <p:nvPr/>
          </p:nvCxnSpPr>
          <p:spPr>
            <a:xfrm flipH="1" rot="-1500000">
              <a:off x="7761419" y="630794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1" name="Google Shape;191;p1"/>
            <p:cNvCxnSpPr/>
            <p:nvPr/>
          </p:nvCxnSpPr>
          <p:spPr>
            <a:xfrm flipH="1" rot="-1620000">
              <a:off x="7636645" y="689804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p1"/>
            <p:cNvCxnSpPr/>
            <p:nvPr/>
          </p:nvCxnSpPr>
          <p:spPr>
            <a:xfrm flipH="1" rot="-1800000">
              <a:off x="7511871" y="751195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1"/>
            <p:cNvCxnSpPr/>
            <p:nvPr/>
          </p:nvCxnSpPr>
          <p:spPr>
            <a:xfrm flipH="1" rot="-1920000">
              <a:off x="7387899" y="819771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" name="Google Shape;194;p1"/>
            <p:cNvCxnSpPr/>
            <p:nvPr/>
          </p:nvCxnSpPr>
          <p:spPr>
            <a:xfrm flipH="1" rot="-2040000">
              <a:off x="7268530" y="893163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" name="Google Shape;195;p1"/>
            <p:cNvCxnSpPr/>
            <p:nvPr/>
          </p:nvCxnSpPr>
          <p:spPr>
            <a:xfrm flipH="1" rot="-2160000">
              <a:off x="7152030" y="976584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6" name="Google Shape;196;p1"/>
            <p:cNvCxnSpPr/>
            <p:nvPr/>
          </p:nvCxnSpPr>
          <p:spPr>
            <a:xfrm flipH="1" rot="-2340000">
              <a:off x="7041695" y="1060025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" name="Google Shape;197;p1"/>
            <p:cNvCxnSpPr/>
            <p:nvPr/>
          </p:nvCxnSpPr>
          <p:spPr>
            <a:xfrm flipH="1" rot="-2460000">
              <a:off x="6931360" y="1143466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" name="Google Shape;198;p1"/>
            <p:cNvCxnSpPr/>
            <p:nvPr/>
          </p:nvCxnSpPr>
          <p:spPr>
            <a:xfrm flipH="1" rot="-2580000">
              <a:off x="6819070" y="1235864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p1"/>
            <p:cNvCxnSpPr/>
            <p:nvPr/>
          </p:nvCxnSpPr>
          <p:spPr>
            <a:xfrm flipH="1" rot="-2700000">
              <a:off x="6721359" y="1332746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0" name="Google Shape;200;p1"/>
            <p:cNvCxnSpPr/>
            <p:nvPr/>
          </p:nvCxnSpPr>
          <p:spPr>
            <a:xfrm flipH="1" rot="-2880000">
              <a:off x="6617467" y="1429423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" name="Google Shape;201;p1"/>
            <p:cNvCxnSpPr/>
            <p:nvPr/>
          </p:nvCxnSpPr>
          <p:spPr>
            <a:xfrm flipH="1" rot="-3000000">
              <a:off x="6520032" y="1527285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" name="Google Shape;202;p1"/>
            <p:cNvCxnSpPr/>
            <p:nvPr/>
          </p:nvCxnSpPr>
          <p:spPr>
            <a:xfrm flipH="1" rot="-3120000">
              <a:off x="6429579" y="1641610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" name="Google Shape;203;p1"/>
            <p:cNvCxnSpPr/>
            <p:nvPr/>
          </p:nvCxnSpPr>
          <p:spPr>
            <a:xfrm flipH="1" rot="-3240000">
              <a:off x="6340532" y="1750423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4" name="Google Shape;204;p1"/>
            <p:cNvCxnSpPr/>
            <p:nvPr/>
          </p:nvCxnSpPr>
          <p:spPr>
            <a:xfrm flipH="1" rot="-3420000">
              <a:off x="6261757" y="1860178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5" name="Google Shape;205;p1"/>
            <p:cNvCxnSpPr/>
            <p:nvPr/>
          </p:nvCxnSpPr>
          <p:spPr>
            <a:xfrm flipH="1" rot="-3540000">
              <a:off x="6184144" y="1979619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6" name="Google Shape;206;p1"/>
            <p:cNvCxnSpPr/>
            <p:nvPr/>
          </p:nvCxnSpPr>
          <p:spPr>
            <a:xfrm flipH="1" rot="-3660000">
              <a:off x="6106531" y="2099060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7" name="Google Shape;207;p1"/>
            <p:cNvCxnSpPr/>
            <p:nvPr/>
          </p:nvCxnSpPr>
          <p:spPr>
            <a:xfrm flipH="1" rot="-3780000">
              <a:off x="6043206" y="2222556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8" name="Google Shape;208;p1"/>
            <p:cNvCxnSpPr/>
            <p:nvPr/>
          </p:nvCxnSpPr>
          <p:spPr>
            <a:xfrm flipH="1" rot="-3960000">
              <a:off x="5978913" y="2344301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9" name="Google Shape;209;p1"/>
            <p:cNvCxnSpPr/>
            <p:nvPr/>
          </p:nvCxnSpPr>
          <p:spPr>
            <a:xfrm flipH="1" rot="-4080000">
              <a:off x="5912438" y="2470678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0" name="Google Shape;210;p1"/>
            <p:cNvCxnSpPr/>
            <p:nvPr/>
          </p:nvCxnSpPr>
          <p:spPr>
            <a:xfrm flipH="1" rot="-4200000">
              <a:off x="5858875" y="2600922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1" name="Google Shape;211;p1"/>
            <p:cNvCxnSpPr/>
            <p:nvPr/>
          </p:nvCxnSpPr>
          <p:spPr>
            <a:xfrm flipH="1" rot="-4320000">
              <a:off x="5808182" y="2734040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2" name="Google Shape;212;p1"/>
            <p:cNvCxnSpPr/>
            <p:nvPr/>
          </p:nvCxnSpPr>
          <p:spPr>
            <a:xfrm flipH="1" rot="-4500000">
              <a:off x="5773263" y="2866860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3" name="Google Shape;213;p1"/>
            <p:cNvCxnSpPr/>
            <p:nvPr/>
          </p:nvCxnSpPr>
          <p:spPr>
            <a:xfrm flipH="1" rot="-4620000">
              <a:off x="5735963" y="3002061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4" name="Google Shape;214;p1"/>
            <p:cNvCxnSpPr/>
            <p:nvPr/>
          </p:nvCxnSpPr>
          <p:spPr>
            <a:xfrm flipH="1" rot="-4740000">
              <a:off x="5700105" y="3138910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5" name="Google Shape;215;p1"/>
            <p:cNvCxnSpPr/>
            <p:nvPr/>
          </p:nvCxnSpPr>
          <p:spPr>
            <a:xfrm flipH="1" rot="-4860000">
              <a:off x="5665939" y="3275489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6" name="Google Shape;216;p1"/>
            <p:cNvCxnSpPr/>
            <p:nvPr/>
          </p:nvCxnSpPr>
          <p:spPr>
            <a:xfrm flipH="1" rot="-5040000">
              <a:off x="5644476" y="3414251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" name="Google Shape;217;p1"/>
            <p:cNvCxnSpPr/>
            <p:nvPr/>
          </p:nvCxnSpPr>
          <p:spPr>
            <a:xfrm flipH="1" rot="-5160000">
              <a:off x="5626530" y="3554628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8" name="Google Shape;218;p1"/>
            <p:cNvCxnSpPr/>
            <p:nvPr/>
          </p:nvCxnSpPr>
          <p:spPr>
            <a:xfrm flipH="1" rot="-5280000">
              <a:off x="5616429" y="3691831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9" name="Google Shape;219;p1"/>
            <p:cNvCxnSpPr/>
            <p:nvPr/>
          </p:nvCxnSpPr>
          <p:spPr>
            <a:xfrm flipH="1" rot="-5400000">
              <a:off x="5611319" y="3835374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0" name="Google Shape;220;p1"/>
            <p:cNvCxnSpPr/>
            <p:nvPr/>
          </p:nvCxnSpPr>
          <p:spPr>
            <a:xfrm flipH="1" rot="-5580000">
              <a:off x="5608540" y="3975726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1"/>
            <p:cNvCxnSpPr/>
            <p:nvPr/>
          </p:nvCxnSpPr>
          <p:spPr>
            <a:xfrm flipH="1" rot="-5700000">
              <a:off x="5605761" y="4116078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1"/>
            <p:cNvCxnSpPr/>
            <p:nvPr/>
          </p:nvCxnSpPr>
          <p:spPr>
            <a:xfrm flipH="1" rot="-5820000">
              <a:off x="5624195" y="4254218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3" name="Google Shape;223;p1"/>
            <p:cNvCxnSpPr/>
            <p:nvPr/>
          </p:nvCxnSpPr>
          <p:spPr>
            <a:xfrm flipH="1" rot="-5940000">
              <a:off x="5642629" y="4392358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4" name="Google Shape;224;p1"/>
            <p:cNvCxnSpPr/>
            <p:nvPr/>
          </p:nvCxnSpPr>
          <p:spPr>
            <a:xfrm flipH="1" rot="-6120000">
              <a:off x="5654818" y="4536385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5" name="Google Shape;225;p1"/>
            <p:cNvCxnSpPr/>
            <p:nvPr/>
          </p:nvCxnSpPr>
          <p:spPr>
            <a:xfrm flipH="1" rot="-6240000">
              <a:off x="5684446" y="4671367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6" name="Google Shape;226;p1"/>
            <p:cNvCxnSpPr/>
            <p:nvPr/>
          </p:nvCxnSpPr>
          <p:spPr>
            <a:xfrm flipH="1" rot="-6360000">
              <a:off x="5714074" y="4808730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7" name="Google Shape;227;p1"/>
            <p:cNvCxnSpPr/>
            <p:nvPr/>
          </p:nvCxnSpPr>
          <p:spPr>
            <a:xfrm flipH="1" rot="-6480000">
              <a:off x="5748464" y="4948474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8" name="Google Shape;228;p1"/>
            <p:cNvCxnSpPr/>
            <p:nvPr/>
          </p:nvCxnSpPr>
          <p:spPr>
            <a:xfrm flipH="1" rot="-6660000">
              <a:off x="5792091" y="5077607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9" name="Google Shape;229;p1"/>
            <p:cNvCxnSpPr/>
            <p:nvPr/>
          </p:nvCxnSpPr>
          <p:spPr>
            <a:xfrm flipH="1" rot="-6780000">
              <a:off x="5847441" y="5211223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0" name="Google Shape;230;p1"/>
            <p:cNvCxnSpPr/>
            <p:nvPr/>
          </p:nvCxnSpPr>
          <p:spPr>
            <a:xfrm flipH="1" rot="-6900000">
              <a:off x="5900410" y="5342458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1"/>
            <p:cNvCxnSpPr/>
            <p:nvPr/>
          </p:nvCxnSpPr>
          <p:spPr>
            <a:xfrm flipH="1" rot="-7020000">
              <a:off x="5955760" y="5473693"/>
              <a:ext cx="3394" cy="182880"/>
            </a:xfrm>
            <a:prstGeom prst="straightConnector1">
              <a:avLst/>
            </a:prstGeom>
            <a:noFill/>
            <a:ln cap="rnd" cmpd="sng" w="9525">
              <a:solidFill>
                <a:srgbClr val="FFFFFF">
                  <a:alpha val="28627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32" name="Google Shape;23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4679" y="3629553"/>
            <a:ext cx="5124328" cy="81989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"/>
          <p:cNvSpPr txBox="1"/>
          <p:nvPr/>
        </p:nvSpPr>
        <p:spPr>
          <a:xfrm>
            <a:off x="234950" y="3417800"/>
            <a:ext cx="6500100" cy="3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0" i="0" lang="es-CL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INTEGRANTES:</a:t>
            </a:r>
            <a:endParaRPr b="0" i="0" sz="2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-"/>
            </a:pPr>
            <a:r>
              <a:rPr b="0" i="0" lang="es-CL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JORGE MERINO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-"/>
            </a:pPr>
            <a:r>
              <a:rPr b="0" i="0" lang="es-CL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PATRICIO LAGOS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-"/>
            </a:pPr>
            <a:r>
              <a:rPr b="0" i="0" lang="es-CL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CARLOS ARRIAGADA</a:t>
            </a:r>
            <a:endParaRPr b="1" i="0" sz="27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type="title"/>
          </p:nvPr>
        </p:nvSpPr>
        <p:spPr>
          <a:xfrm>
            <a:off x="685800" y="53789"/>
            <a:ext cx="10131425" cy="87486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CL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 sz="4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8"/>
          <p:cNvSpPr txBox="1"/>
          <p:nvPr>
            <p:ph idx="1" type="body"/>
          </p:nvPr>
        </p:nvSpPr>
        <p:spPr>
          <a:xfrm>
            <a:off x="788928" y="1083060"/>
            <a:ext cx="3920576" cy="49488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81"/>
              <a:buNone/>
            </a:pPr>
            <a:r>
              <a:rPr b="1" lang="es-CL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Introducción</a:t>
            </a:r>
            <a:br>
              <a:rPr b="1" lang="es-CL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CL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Situación Actual</a:t>
            </a:r>
            <a:br>
              <a:rPr b="1" lang="es-CL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CL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Problema</a:t>
            </a:r>
            <a:br>
              <a:rPr b="1" lang="es-CL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CL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Objetivos</a:t>
            </a:r>
            <a:br>
              <a:rPr b="1" lang="es-CL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CL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Alternativas de Solución</a:t>
            </a:r>
            <a:br>
              <a:rPr b="1" lang="es-CL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CL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Alternativa Escogida</a:t>
            </a:r>
            <a:br>
              <a:rPr b="1" lang="es-CL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CL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Indicadores Económicos</a:t>
            </a:r>
            <a:br>
              <a:rPr b="1" lang="es-CL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CL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Implementación</a:t>
            </a:r>
            <a:br>
              <a:rPr b="1" lang="es-CL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CL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Conclusiones</a:t>
            </a:r>
            <a:endParaRPr sz="2100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2100"/>
          </a:p>
        </p:txBody>
      </p:sp>
      <p:pic>
        <p:nvPicPr>
          <p:cNvPr id="240" name="Google Shape;24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048047"/>
            <a:ext cx="4761905" cy="4761905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l">
              <a:srgbClr val="000000">
                <a:alpha val="44705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39"/>
          <p:cNvGrpSpPr/>
          <p:nvPr/>
        </p:nvGrpSpPr>
        <p:grpSpPr>
          <a:xfrm>
            <a:off x="1030287" y="1411940"/>
            <a:ext cx="10131425" cy="3275282"/>
            <a:chOff x="0" y="707288"/>
            <a:chExt cx="10131425" cy="2937967"/>
          </a:xfrm>
        </p:grpSpPr>
        <p:sp>
          <p:nvSpPr>
            <p:cNvPr id="246" name="Google Shape;246;p39"/>
            <p:cNvSpPr/>
            <p:nvPr/>
          </p:nvSpPr>
          <p:spPr>
            <a:xfrm>
              <a:off x="0" y="707288"/>
              <a:ext cx="10131425" cy="1305763"/>
            </a:xfrm>
            <a:prstGeom prst="roundRect">
              <a:avLst>
                <a:gd fmla="val 10000" name="adj"/>
              </a:avLst>
            </a:prstGeom>
            <a:solidFill>
              <a:srgbClr val="E1CD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39"/>
            <p:cNvSpPr/>
            <p:nvPr/>
          </p:nvSpPr>
          <p:spPr>
            <a:xfrm>
              <a:off x="394993" y="1001085"/>
              <a:ext cx="718169" cy="71816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39"/>
            <p:cNvSpPr/>
            <p:nvPr/>
          </p:nvSpPr>
          <p:spPr>
            <a:xfrm>
              <a:off x="1508156" y="707288"/>
              <a:ext cx="8623268" cy="1305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39"/>
            <p:cNvSpPr txBox="1"/>
            <p:nvPr/>
          </p:nvSpPr>
          <p:spPr>
            <a:xfrm>
              <a:off x="1508156" y="707288"/>
              <a:ext cx="8623268" cy="1305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8175" lIns="138175" spcFirstLastPara="1" rIns="138175" wrap="square" tIns="1381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es-CL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¿Qué es SmartSwim?</a:t>
              </a:r>
              <a:br>
                <a:rPr b="0" i="0" lang="es-CL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Aplicación móvil (Expo React Native) que genera </a:t>
              </a:r>
              <a:r>
                <a:rPr b="1" i="0" lang="es-CL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planes de entrenamiento de natación personalizados</a:t>
              </a:r>
              <a:r>
                <a:rPr b="0" i="0" lang="es-CL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con IA y permite </a:t>
              </a:r>
              <a:r>
                <a:rPr b="1" i="0" lang="es-CL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seguimiento del progreso</a:t>
              </a:r>
              <a:r>
                <a:rPr b="0" i="0" lang="es-CL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en tiempo real.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39"/>
            <p:cNvSpPr/>
            <p:nvPr/>
          </p:nvSpPr>
          <p:spPr>
            <a:xfrm>
              <a:off x="0" y="2339492"/>
              <a:ext cx="10131425" cy="1305763"/>
            </a:xfrm>
            <a:prstGeom prst="roundRect">
              <a:avLst>
                <a:gd fmla="val 10000" name="adj"/>
              </a:avLst>
            </a:prstGeom>
            <a:solidFill>
              <a:srgbClr val="E1CD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39"/>
            <p:cNvSpPr/>
            <p:nvPr/>
          </p:nvSpPr>
          <p:spPr>
            <a:xfrm>
              <a:off x="394993" y="2633289"/>
              <a:ext cx="718169" cy="71816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39"/>
            <p:cNvSpPr/>
            <p:nvPr/>
          </p:nvSpPr>
          <p:spPr>
            <a:xfrm>
              <a:off x="1508156" y="2339492"/>
              <a:ext cx="8623268" cy="1305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39"/>
            <p:cNvSpPr txBox="1"/>
            <p:nvPr/>
          </p:nvSpPr>
          <p:spPr>
            <a:xfrm>
              <a:off x="1508156" y="2339492"/>
              <a:ext cx="8623268" cy="1305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8175" lIns="138175" spcFirstLastPara="1" rIns="138175" wrap="square" tIns="1381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es-CL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Misión / Propósito</a:t>
              </a:r>
              <a:br>
                <a:rPr b="0" i="0" lang="es-CL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Democratizar el acceso a entrenamiento especializado en Chile e Hispanoamérica, priorizando </a:t>
              </a:r>
              <a:r>
                <a:rPr b="1" i="0" lang="es-CL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seguridad</a:t>
              </a:r>
              <a:r>
                <a:rPr b="0" i="0" lang="es-CL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b="1" i="0" lang="es-CL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claridad</a:t>
              </a:r>
              <a:r>
                <a:rPr b="0" i="0" lang="es-CL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y </a:t>
              </a:r>
              <a:r>
                <a:rPr b="1" i="0" lang="es-CL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continuidad</a:t>
              </a:r>
              <a:r>
                <a:rPr b="0" i="0" lang="es-CL" sz="1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del plan.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4" name="Google Shape;254;p39"/>
          <p:cNvSpPr/>
          <p:nvPr/>
        </p:nvSpPr>
        <p:spPr>
          <a:xfrm>
            <a:off x="1030287" y="5051142"/>
            <a:ext cx="10131419" cy="1305763"/>
          </a:xfrm>
          <a:prstGeom prst="roundRect">
            <a:avLst>
              <a:gd fmla="val 10000" name="adj"/>
            </a:avLst>
          </a:prstGeom>
          <a:solidFill>
            <a:srgbClr val="E1CDE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acher" id="255" name="Google Shape;25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1174" y="5246823"/>
            <a:ext cx="88637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9"/>
          <p:cNvSpPr txBox="1"/>
          <p:nvPr/>
        </p:nvSpPr>
        <p:spPr>
          <a:xfrm>
            <a:off x="685800" y="53789"/>
            <a:ext cx="10131425" cy="874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s-CL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</p:txBody>
      </p:sp>
      <p:sp>
        <p:nvSpPr>
          <p:cNvPr id="257" name="Google Shape;257;p39"/>
          <p:cNvSpPr txBox="1"/>
          <p:nvPr/>
        </p:nvSpPr>
        <p:spPr>
          <a:xfrm>
            <a:off x="2538443" y="5051142"/>
            <a:ext cx="8623268" cy="130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38175" lIns="138175" spcFirstLastPara="1" rIns="138175" wrap="square" tIns="1381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Propuesta de valor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s-CL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Personalización por </a:t>
            </a:r>
            <a:r>
              <a:rPr b="1" i="0" lang="es-CL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edad, experiencia, objetivos</a:t>
            </a:r>
            <a:r>
              <a:rPr b="0" i="0" lang="es-CL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días, minutos/sesión.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s-CL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Objetivos e intensidades visibles por </a:t>
            </a:r>
            <a:r>
              <a:rPr b="1" i="0" lang="es-CL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semana/sesión </a:t>
            </a:r>
            <a:r>
              <a:rPr b="0" i="0" lang="es-CL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(chips).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s-CL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Trazabilidad: registro de </a:t>
            </a:r>
            <a:r>
              <a:rPr b="1" i="0" lang="es-CL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sesiones y feedback.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41"/>
          <p:cNvGrpSpPr/>
          <p:nvPr/>
        </p:nvGrpSpPr>
        <p:grpSpPr>
          <a:xfrm>
            <a:off x="1030288" y="1479471"/>
            <a:ext cx="10131424" cy="4352543"/>
            <a:chOff x="0" y="0"/>
            <a:chExt cx="10131424" cy="4352543"/>
          </a:xfrm>
        </p:grpSpPr>
        <p:sp>
          <p:nvSpPr>
            <p:cNvPr id="263" name="Google Shape;263;p41"/>
            <p:cNvSpPr/>
            <p:nvPr/>
          </p:nvSpPr>
          <p:spPr>
            <a:xfrm>
              <a:off x="0" y="0"/>
              <a:ext cx="8611711" cy="1305763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35C29F"/>
                </a:gs>
                <a:gs pos="100000">
                  <a:srgbClr val="99FFD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1"/>
            <p:cNvSpPr txBox="1"/>
            <p:nvPr/>
          </p:nvSpPr>
          <p:spPr>
            <a:xfrm>
              <a:off x="38244" y="38244"/>
              <a:ext cx="7202691" cy="122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-285750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1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Frontend:</a:t>
              </a:r>
              <a:r>
                <a:rPr b="0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Expo React Native (RN 0.81.5 / React 19.1).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1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Backend y Datos:</a:t>
              </a:r>
              <a:r>
                <a:rPr b="0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Supabase</a:t>
              </a:r>
              <a:r>
                <a:rPr b="0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(PostgreSQL, RLS, triggers, RPC).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1"/>
            <p:cNvSpPr/>
            <p:nvPr/>
          </p:nvSpPr>
          <p:spPr>
            <a:xfrm>
              <a:off x="759856" y="1523390"/>
              <a:ext cx="8611711" cy="1305763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35C29F"/>
                </a:gs>
                <a:gs pos="100000">
                  <a:srgbClr val="99FFD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1"/>
            <p:cNvSpPr txBox="1"/>
            <p:nvPr/>
          </p:nvSpPr>
          <p:spPr>
            <a:xfrm>
              <a:off x="798100" y="1561634"/>
              <a:ext cx="6926620" cy="122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-285750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1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Lógica de negocio:</a:t>
              </a:r>
              <a:r>
                <a:rPr b="0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Edge Functions</a:t>
              </a:r>
              <a:r>
                <a:rPr b="0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(Deno) para generar/guardar planes y registrar progreso.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1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IA:</a:t>
              </a:r>
              <a:r>
                <a:rPr b="0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Gemini 2.5‑flash</a:t>
              </a:r>
              <a:r>
                <a:rPr b="0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(primary), con opción </a:t>
              </a:r>
              <a:r>
                <a:rPr b="1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2.5‑flash‑lite</a:t>
              </a:r>
              <a:r>
                <a:rPr b="0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y </a:t>
              </a:r>
              <a:r>
                <a:rPr b="1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fallback multi‑proveedor</a:t>
              </a:r>
              <a:r>
                <a:rPr b="0" i="0" lang="es-CL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41"/>
            <p:cNvSpPr/>
            <p:nvPr/>
          </p:nvSpPr>
          <p:spPr>
            <a:xfrm>
              <a:off x="1519713" y="3046780"/>
              <a:ext cx="8611711" cy="1305763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35C29F"/>
                </a:gs>
                <a:gs pos="100000">
                  <a:srgbClr val="99FFD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41"/>
            <p:cNvSpPr txBox="1"/>
            <p:nvPr/>
          </p:nvSpPr>
          <p:spPr>
            <a:xfrm>
              <a:off x="1557957" y="3085024"/>
              <a:ext cx="6926620" cy="122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-285750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1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Formato estándar de plan:</a:t>
              </a:r>
              <a:r>
                <a:rPr b="0" i="0" lang="es-CL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weeklyBlocks (meta, overview, semanas, sesiones, intensidades, duración).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41"/>
            <p:cNvSpPr/>
            <p:nvPr/>
          </p:nvSpPr>
          <p:spPr>
            <a:xfrm>
              <a:off x="7762965" y="990203"/>
              <a:ext cx="848746" cy="848746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EE4DD">
                <a:alpha val="89411"/>
              </a:srgbClr>
            </a:solidFill>
            <a:ln cap="flat" cmpd="sng" w="9525">
              <a:solidFill>
                <a:srgbClr val="CEE4DD">
                  <a:alpha val="89411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1"/>
            <p:cNvSpPr txBox="1"/>
            <p:nvPr/>
          </p:nvSpPr>
          <p:spPr>
            <a:xfrm>
              <a:off x="7953933" y="990203"/>
              <a:ext cx="466810" cy="638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41"/>
            <p:cNvSpPr/>
            <p:nvPr/>
          </p:nvSpPr>
          <p:spPr>
            <a:xfrm>
              <a:off x="8522822" y="2504889"/>
              <a:ext cx="848746" cy="848746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EE4DD">
                <a:alpha val="89411"/>
              </a:srgbClr>
            </a:solidFill>
            <a:ln cap="flat" cmpd="sng" w="9525">
              <a:solidFill>
                <a:srgbClr val="CEE4DD">
                  <a:alpha val="89411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41"/>
            <p:cNvSpPr txBox="1"/>
            <p:nvPr/>
          </p:nvSpPr>
          <p:spPr>
            <a:xfrm>
              <a:off x="8713790" y="2504889"/>
              <a:ext cx="466810" cy="638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3" name="Google Shape;273;p41"/>
          <p:cNvSpPr txBox="1"/>
          <p:nvPr/>
        </p:nvSpPr>
        <p:spPr>
          <a:xfrm>
            <a:off x="685800" y="53789"/>
            <a:ext cx="10131425" cy="874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s-CL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Tecnología Clave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42"/>
          <p:cNvGrpSpPr/>
          <p:nvPr/>
        </p:nvGrpSpPr>
        <p:grpSpPr>
          <a:xfrm>
            <a:off x="685800" y="1120959"/>
            <a:ext cx="10873986" cy="2817243"/>
            <a:chOff x="287734" y="927931"/>
            <a:chExt cx="10873986" cy="2817243"/>
          </a:xfrm>
        </p:grpSpPr>
        <p:sp>
          <p:nvSpPr>
            <p:cNvPr id="279" name="Google Shape;279;p42"/>
            <p:cNvSpPr/>
            <p:nvPr/>
          </p:nvSpPr>
          <p:spPr>
            <a:xfrm>
              <a:off x="756337" y="927931"/>
              <a:ext cx="1465885" cy="1465885"/>
            </a:xfrm>
            <a:prstGeom prst="ellipse">
              <a:avLst/>
            </a:prstGeom>
            <a:solidFill>
              <a:srgbClr val="CEE4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42"/>
            <p:cNvSpPr/>
            <p:nvPr/>
          </p:nvSpPr>
          <p:spPr>
            <a:xfrm>
              <a:off x="1068739" y="1240333"/>
              <a:ext cx="841081" cy="84108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42"/>
            <p:cNvSpPr/>
            <p:nvPr/>
          </p:nvSpPr>
          <p:spPr>
            <a:xfrm>
              <a:off x="287734" y="2850404"/>
              <a:ext cx="2403090" cy="894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2"/>
            <p:cNvSpPr txBox="1"/>
            <p:nvPr/>
          </p:nvSpPr>
          <p:spPr>
            <a:xfrm>
              <a:off x="287734" y="2850404"/>
              <a:ext cx="2403090" cy="894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-CL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ALTO COSTO Y ESCASEZ </a:t>
              </a:r>
              <a:r>
                <a:rPr b="0" i="0" lang="es-CL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 ENTRENADORES ESPECIALIZADOS.</a:t>
              </a:r>
              <a:br>
                <a:rPr b="0" i="0" lang="es-CL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2"/>
            <p:cNvSpPr/>
            <p:nvPr/>
          </p:nvSpPr>
          <p:spPr>
            <a:xfrm>
              <a:off x="3579969" y="927931"/>
              <a:ext cx="1465885" cy="1465885"/>
            </a:xfrm>
            <a:prstGeom prst="ellipse">
              <a:avLst/>
            </a:prstGeom>
            <a:solidFill>
              <a:srgbClr val="CEE4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2"/>
            <p:cNvSpPr/>
            <p:nvPr/>
          </p:nvSpPr>
          <p:spPr>
            <a:xfrm>
              <a:off x="3892371" y="1240333"/>
              <a:ext cx="841081" cy="84108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2"/>
            <p:cNvSpPr/>
            <p:nvPr/>
          </p:nvSpPr>
          <p:spPr>
            <a:xfrm>
              <a:off x="3111366" y="2850404"/>
              <a:ext cx="2403090" cy="894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2"/>
            <p:cNvSpPr txBox="1"/>
            <p:nvPr/>
          </p:nvSpPr>
          <p:spPr>
            <a:xfrm>
              <a:off x="3111366" y="2850404"/>
              <a:ext cx="2403090" cy="894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CL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APPS GLOBALES CON </a:t>
              </a:r>
              <a:r>
                <a:rPr b="1" i="0" lang="es-CL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POCA ADAPTACIÓN LOCAL </a:t>
              </a:r>
              <a:r>
                <a:rPr b="0" i="0" lang="es-CL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(IDIOMA/ESTILO/MEDICIONES).</a:t>
              </a:r>
              <a:br>
                <a:rPr b="0" i="0" lang="es-CL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2"/>
            <p:cNvSpPr/>
            <p:nvPr/>
          </p:nvSpPr>
          <p:spPr>
            <a:xfrm>
              <a:off x="6403601" y="927931"/>
              <a:ext cx="1465885" cy="1465885"/>
            </a:xfrm>
            <a:prstGeom prst="ellipse">
              <a:avLst/>
            </a:prstGeom>
            <a:solidFill>
              <a:srgbClr val="CEE4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2"/>
            <p:cNvSpPr/>
            <p:nvPr/>
          </p:nvSpPr>
          <p:spPr>
            <a:xfrm>
              <a:off x="6716003" y="1240333"/>
              <a:ext cx="841081" cy="84108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2"/>
            <p:cNvSpPr/>
            <p:nvPr/>
          </p:nvSpPr>
          <p:spPr>
            <a:xfrm>
              <a:off x="5934998" y="2850404"/>
              <a:ext cx="2403090" cy="894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2"/>
            <p:cNvSpPr txBox="1"/>
            <p:nvPr/>
          </p:nvSpPr>
          <p:spPr>
            <a:xfrm>
              <a:off x="5934998" y="2850404"/>
              <a:ext cx="2403090" cy="894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CL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SOLUCIONES GENÉRICAS SIN </a:t>
              </a:r>
              <a:r>
                <a:rPr b="1" i="0" lang="es-CL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SEGUIMIENTO NI RETROALIMENTACIÓN </a:t>
              </a:r>
              <a:r>
                <a:rPr b="0" i="0" lang="es-CL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CONTINUA</a:t>
              </a:r>
              <a:r>
                <a:rPr b="0" i="0" lang="es-CL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br>
                <a:rPr b="0" i="0" lang="es-CL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2"/>
            <p:cNvSpPr/>
            <p:nvPr/>
          </p:nvSpPr>
          <p:spPr>
            <a:xfrm>
              <a:off x="9227233" y="927931"/>
              <a:ext cx="1465885" cy="1465885"/>
            </a:xfrm>
            <a:prstGeom prst="ellipse">
              <a:avLst/>
            </a:prstGeom>
            <a:solidFill>
              <a:srgbClr val="CEE4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42"/>
            <p:cNvSpPr/>
            <p:nvPr/>
          </p:nvSpPr>
          <p:spPr>
            <a:xfrm>
              <a:off x="9539634" y="1240333"/>
              <a:ext cx="841081" cy="84108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2"/>
            <p:cNvSpPr/>
            <p:nvPr/>
          </p:nvSpPr>
          <p:spPr>
            <a:xfrm>
              <a:off x="8758630" y="2850404"/>
              <a:ext cx="2403090" cy="894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42"/>
            <p:cNvSpPr txBox="1"/>
            <p:nvPr/>
          </p:nvSpPr>
          <p:spPr>
            <a:xfrm>
              <a:off x="8758630" y="2850404"/>
              <a:ext cx="2403090" cy="894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s-CL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NECESIDAD DE HERRAMIENTAS </a:t>
              </a:r>
              <a:r>
                <a:rPr b="1" i="0" lang="es-CL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ACCESIBLES</a:t>
              </a:r>
              <a:r>
                <a:rPr b="0" i="0" lang="es-CL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PARA AMATEUR/INTERMEDIO</a:t>
              </a:r>
              <a:r>
                <a:rPr b="0" i="0" lang="es-CL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5" name="Google Shape;295;p42"/>
          <p:cNvSpPr txBox="1"/>
          <p:nvPr/>
        </p:nvSpPr>
        <p:spPr>
          <a:xfrm>
            <a:off x="685800" y="53789"/>
            <a:ext cx="10131425" cy="874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s-CL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Situación Actual</a:t>
            </a:r>
            <a:endParaRPr/>
          </a:p>
        </p:txBody>
      </p:sp>
      <p:grpSp>
        <p:nvGrpSpPr>
          <p:cNvPr id="296" name="Google Shape;296;p42"/>
          <p:cNvGrpSpPr/>
          <p:nvPr/>
        </p:nvGrpSpPr>
        <p:grpSpPr>
          <a:xfrm>
            <a:off x="1722773" y="5173484"/>
            <a:ext cx="9837013" cy="1386590"/>
            <a:chOff x="147205" y="1525122"/>
            <a:chExt cx="9837013" cy="1302299"/>
          </a:xfrm>
        </p:grpSpPr>
        <p:sp>
          <p:nvSpPr>
            <p:cNvPr id="297" name="Google Shape;297;p42"/>
            <p:cNvSpPr/>
            <p:nvPr/>
          </p:nvSpPr>
          <p:spPr>
            <a:xfrm>
              <a:off x="147205" y="1525122"/>
              <a:ext cx="1302299" cy="1302299"/>
            </a:xfrm>
            <a:prstGeom prst="ellipse">
              <a:avLst/>
            </a:prstGeom>
            <a:solidFill>
              <a:srgbClr val="CEE4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2"/>
            <p:cNvSpPr/>
            <p:nvPr/>
          </p:nvSpPr>
          <p:spPr>
            <a:xfrm>
              <a:off x="420688" y="1798605"/>
              <a:ext cx="755333" cy="75533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2"/>
            <p:cNvSpPr/>
            <p:nvPr/>
          </p:nvSpPr>
          <p:spPr>
            <a:xfrm>
              <a:off x="1728569" y="1525122"/>
              <a:ext cx="3069706" cy="1302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42"/>
            <p:cNvSpPr txBox="1"/>
            <p:nvPr/>
          </p:nvSpPr>
          <p:spPr>
            <a:xfrm>
              <a:off x="1728569" y="1525122"/>
              <a:ext cx="3069706" cy="1302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Los nadadores no acceden a </a:t>
              </a:r>
              <a:r>
                <a:rPr b="1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planes realmente personalizados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por costos, idioma, privacidad y </a:t>
              </a:r>
              <a:r>
                <a:rPr b="1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baja continuidad.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42"/>
            <p:cNvSpPr/>
            <p:nvPr/>
          </p:nvSpPr>
          <p:spPr>
            <a:xfrm>
              <a:off x="5333149" y="1525122"/>
              <a:ext cx="1302299" cy="1302299"/>
            </a:xfrm>
            <a:prstGeom prst="ellipse">
              <a:avLst/>
            </a:prstGeom>
            <a:solidFill>
              <a:srgbClr val="CEE4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42"/>
            <p:cNvSpPr/>
            <p:nvPr/>
          </p:nvSpPr>
          <p:spPr>
            <a:xfrm>
              <a:off x="5606631" y="1798605"/>
              <a:ext cx="755333" cy="755333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2"/>
            <p:cNvSpPr/>
            <p:nvPr/>
          </p:nvSpPr>
          <p:spPr>
            <a:xfrm>
              <a:off x="6914512" y="1525122"/>
              <a:ext cx="3069706" cy="1302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42"/>
            <p:cNvSpPr txBox="1"/>
            <p:nvPr/>
          </p:nvSpPr>
          <p:spPr>
            <a:xfrm>
              <a:off x="6914512" y="1525122"/>
              <a:ext cx="3069706" cy="13022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Consecuencia: bajo rendimiento, abandono y desmotivación.</a:t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5" name="Google Shape;305;p42"/>
          <p:cNvSpPr txBox="1"/>
          <p:nvPr/>
        </p:nvSpPr>
        <p:spPr>
          <a:xfrm>
            <a:off x="685800" y="4028793"/>
            <a:ext cx="10475264" cy="874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s-CL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44"/>
          <p:cNvGrpSpPr/>
          <p:nvPr/>
        </p:nvGrpSpPr>
        <p:grpSpPr>
          <a:xfrm>
            <a:off x="1030287" y="1412234"/>
            <a:ext cx="10131425" cy="4619501"/>
            <a:chOff x="0" y="1138"/>
            <a:chExt cx="10131425" cy="4619501"/>
          </a:xfrm>
        </p:grpSpPr>
        <p:sp>
          <p:nvSpPr>
            <p:cNvPr id="311" name="Google Shape;311;p44"/>
            <p:cNvSpPr/>
            <p:nvPr/>
          </p:nvSpPr>
          <p:spPr>
            <a:xfrm>
              <a:off x="0" y="1752710"/>
              <a:ext cx="10131425" cy="2651587"/>
            </a:xfrm>
            <a:prstGeom prst="rect">
              <a:avLst/>
            </a:prstGeom>
            <a:gradFill>
              <a:gsLst>
                <a:gs pos="0">
                  <a:srgbClr val="B826D5"/>
                </a:gs>
                <a:gs pos="100000">
                  <a:srgbClr val="F28D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44"/>
            <p:cNvSpPr txBox="1"/>
            <p:nvPr/>
          </p:nvSpPr>
          <p:spPr>
            <a:xfrm>
              <a:off x="0" y="1752710"/>
              <a:ext cx="10131425" cy="8824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5125" lIns="135125" spcFirstLastPara="1" rIns="135125" wrap="square" tIns="135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es-CL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Específicos</a:t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44"/>
            <p:cNvSpPr/>
            <p:nvPr/>
          </p:nvSpPr>
          <p:spPr>
            <a:xfrm>
              <a:off x="9889" y="2645923"/>
              <a:ext cx="1685274" cy="1963905"/>
            </a:xfrm>
            <a:prstGeom prst="rect">
              <a:avLst/>
            </a:prstGeom>
            <a:solidFill>
              <a:srgbClr val="E1CDE7">
                <a:alpha val="89411"/>
              </a:srgbClr>
            </a:solidFill>
            <a:ln cap="flat" cmpd="sng" w="9525">
              <a:solidFill>
                <a:srgbClr val="E1CDE7">
                  <a:alpha val="8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4"/>
            <p:cNvSpPr txBox="1"/>
            <p:nvPr/>
          </p:nvSpPr>
          <p:spPr>
            <a:xfrm>
              <a:off x="9889" y="2645923"/>
              <a:ext cx="1685274" cy="1963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128000" spcFirstLastPara="1" rIns="12800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Integrar IA </a:t>
              </a: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 salida estructurada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4"/>
            <p:cNvSpPr/>
            <p:nvPr/>
          </p:nvSpPr>
          <p:spPr>
            <a:xfrm>
              <a:off x="1695163" y="2644839"/>
              <a:ext cx="1685274" cy="1966072"/>
            </a:xfrm>
            <a:prstGeom prst="rect">
              <a:avLst/>
            </a:prstGeom>
            <a:solidFill>
              <a:srgbClr val="E1CDE7">
                <a:alpha val="89411"/>
              </a:srgbClr>
            </a:solidFill>
            <a:ln cap="flat" cmpd="sng" w="9525">
              <a:solidFill>
                <a:srgbClr val="E1CDE7">
                  <a:alpha val="8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44"/>
            <p:cNvSpPr txBox="1"/>
            <p:nvPr/>
          </p:nvSpPr>
          <p:spPr>
            <a:xfrm>
              <a:off x="1695163" y="2644839"/>
              <a:ext cx="1685274" cy="1966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128000" spcFirstLastPara="1" rIns="12800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Asegurar privacidad en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Supabase.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44"/>
            <p:cNvSpPr/>
            <p:nvPr/>
          </p:nvSpPr>
          <p:spPr>
            <a:xfrm>
              <a:off x="3380438" y="2635111"/>
              <a:ext cx="1685274" cy="1985528"/>
            </a:xfrm>
            <a:prstGeom prst="rect">
              <a:avLst/>
            </a:prstGeom>
            <a:solidFill>
              <a:srgbClr val="E1CDE7">
                <a:alpha val="89411"/>
              </a:srgbClr>
            </a:solidFill>
            <a:ln cap="flat" cmpd="sng" w="9525">
              <a:solidFill>
                <a:srgbClr val="E1CDE7">
                  <a:alpha val="8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44"/>
            <p:cNvSpPr txBox="1"/>
            <p:nvPr/>
          </p:nvSpPr>
          <p:spPr>
            <a:xfrm>
              <a:off x="3380438" y="2635111"/>
              <a:ext cx="1685274" cy="19855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128000" spcFirstLastPara="1" rIns="12800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Registrar logs de sesión y exponer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historial de planes.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44"/>
            <p:cNvSpPr/>
            <p:nvPr/>
          </p:nvSpPr>
          <p:spPr>
            <a:xfrm>
              <a:off x="5065712" y="2635111"/>
              <a:ext cx="1685274" cy="1985528"/>
            </a:xfrm>
            <a:prstGeom prst="rect">
              <a:avLst/>
            </a:prstGeom>
            <a:solidFill>
              <a:srgbClr val="E1CDE7">
                <a:alpha val="89411"/>
              </a:srgbClr>
            </a:solidFill>
            <a:ln cap="flat" cmpd="sng" w="9525">
              <a:solidFill>
                <a:srgbClr val="E1CDE7">
                  <a:alpha val="8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44"/>
            <p:cNvSpPr txBox="1"/>
            <p:nvPr/>
          </p:nvSpPr>
          <p:spPr>
            <a:xfrm>
              <a:off x="5065712" y="2635111"/>
              <a:ext cx="1685274" cy="19855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128000" spcFirstLastPara="1" rIns="12800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Validar con usuarios reales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satisfacción 80%.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44"/>
            <p:cNvSpPr/>
            <p:nvPr/>
          </p:nvSpPr>
          <p:spPr>
            <a:xfrm>
              <a:off x="6750986" y="2635111"/>
              <a:ext cx="1685274" cy="1985528"/>
            </a:xfrm>
            <a:prstGeom prst="rect">
              <a:avLst/>
            </a:prstGeom>
            <a:solidFill>
              <a:srgbClr val="E1CDE7">
                <a:alpha val="89411"/>
              </a:srgbClr>
            </a:solidFill>
            <a:ln cap="flat" cmpd="sng" w="9525">
              <a:solidFill>
                <a:srgbClr val="E1CDE7">
                  <a:alpha val="8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4"/>
            <p:cNvSpPr txBox="1"/>
            <p:nvPr/>
          </p:nvSpPr>
          <p:spPr>
            <a:xfrm>
              <a:off x="6750986" y="2635111"/>
              <a:ext cx="1685274" cy="19855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128000" spcFirstLastPara="1" rIns="12800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Validar la solución con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500 usuarios </a:t>
              </a: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 el primer año.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4"/>
            <p:cNvSpPr/>
            <p:nvPr/>
          </p:nvSpPr>
          <p:spPr>
            <a:xfrm>
              <a:off x="8436261" y="2636267"/>
              <a:ext cx="1685274" cy="1983217"/>
            </a:xfrm>
            <a:prstGeom prst="rect">
              <a:avLst/>
            </a:prstGeom>
            <a:solidFill>
              <a:srgbClr val="E1CDE7">
                <a:alpha val="89411"/>
              </a:srgbClr>
            </a:solidFill>
            <a:ln cap="flat" cmpd="sng" w="9525">
              <a:solidFill>
                <a:srgbClr val="E1CDE7">
                  <a:alpha val="8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4"/>
            <p:cNvSpPr txBox="1"/>
            <p:nvPr/>
          </p:nvSpPr>
          <p:spPr>
            <a:xfrm>
              <a:off x="8436261" y="2636267"/>
              <a:ext cx="1685274" cy="1983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128000" spcFirstLastPara="1" rIns="128000" wrap="square" tIns="228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Lograr un VAN positivo y TIR del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25%.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4"/>
            <p:cNvSpPr/>
            <p:nvPr/>
          </p:nvSpPr>
          <p:spPr>
            <a:xfrm rot="10800000">
              <a:off x="0" y="1138"/>
              <a:ext cx="10131425" cy="1995968"/>
            </a:xfrm>
            <a:prstGeom prst="upArrowCallout">
              <a:avLst>
                <a:gd fmla="val 25000" name="adj1"/>
                <a:gd fmla="val 25000" name="adj2"/>
                <a:gd fmla="val 25000" name="adj3"/>
                <a:gd fmla="val 64977" name="adj4"/>
              </a:avLst>
            </a:prstGeom>
            <a:gradFill>
              <a:gsLst>
                <a:gs pos="0">
                  <a:srgbClr val="B826D5"/>
                </a:gs>
                <a:gs pos="100000">
                  <a:srgbClr val="F28D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4"/>
            <p:cNvSpPr txBox="1"/>
            <p:nvPr/>
          </p:nvSpPr>
          <p:spPr>
            <a:xfrm>
              <a:off x="0" y="1138"/>
              <a:ext cx="10131425" cy="129692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5125" lIns="135125" spcFirstLastPara="1" rIns="135125" wrap="square" tIns="1351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1" i="0" lang="es-CL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General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br>
                <a:rPr b="0" i="0" lang="es-CL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Entregar planes personalizados y trazables de natación con IA, </a:t>
              </a:r>
              <a:r>
                <a:rPr b="1" i="0" lang="es-CL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seguros y accionables</a:t>
              </a:r>
              <a:r>
                <a:rPr b="0" i="0" lang="es-CL" sz="19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, en una app móvil.</a:t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p44"/>
          <p:cNvSpPr txBox="1"/>
          <p:nvPr/>
        </p:nvSpPr>
        <p:spPr>
          <a:xfrm>
            <a:off x="685800" y="53789"/>
            <a:ext cx="10131425" cy="874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s-CL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45"/>
          <p:cNvGrpSpPr/>
          <p:nvPr/>
        </p:nvGrpSpPr>
        <p:grpSpPr>
          <a:xfrm>
            <a:off x="1030287" y="1254534"/>
            <a:ext cx="10131425" cy="4348931"/>
            <a:chOff x="0" y="1806"/>
            <a:chExt cx="10131425" cy="4348931"/>
          </a:xfrm>
        </p:grpSpPr>
        <p:sp>
          <p:nvSpPr>
            <p:cNvPr id="333" name="Google Shape;333;p45"/>
            <p:cNvSpPr/>
            <p:nvPr/>
          </p:nvSpPr>
          <p:spPr>
            <a:xfrm>
              <a:off x="0" y="1806"/>
              <a:ext cx="10131425" cy="915564"/>
            </a:xfrm>
            <a:prstGeom prst="roundRect">
              <a:avLst>
                <a:gd fmla="val 10000" name="adj"/>
              </a:avLst>
            </a:prstGeom>
            <a:solidFill>
              <a:srgbClr val="CDD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5"/>
            <p:cNvSpPr/>
            <p:nvPr/>
          </p:nvSpPr>
          <p:spPr>
            <a:xfrm>
              <a:off x="276958" y="207808"/>
              <a:ext cx="503560" cy="50356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45"/>
            <p:cNvSpPr/>
            <p:nvPr/>
          </p:nvSpPr>
          <p:spPr>
            <a:xfrm>
              <a:off x="1057476" y="1806"/>
              <a:ext cx="9073948" cy="9155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5"/>
            <p:cNvSpPr txBox="1"/>
            <p:nvPr/>
          </p:nvSpPr>
          <p:spPr>
            <a:xfrm>
              <a:off x="1057476" y="1806"/>
              <a:ext cx="9073948" cy="9155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6875" lIns="96875" spcFirstLastPara="1" rIns="96875" wrap="square" tIns="96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s-CL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1) IA generativa + Supabase </a:t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5"/>
            <p:cNvSpPr/>
            <p:nvPr/>
          </p:nvSpPr>
          <p:spPr>
            <a:xfrm>
              <a:off x="0" y="1146262"/>
              <a:ext cx="10131425" cy="915564"/>
            </a:xfrm>
            <a:prstGeom prst="roundRect">
              <a:avLst>
                <a:gd fmla="val 10000" name="adj"/>
              </a:avLst>
            </a:prstGeom>
            <a:solidFill>
              <a:srgbClr val="CDD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5"/>
            <p:cNvSpPr/>
            <p:nvPr/>
          </p:nvSpPr>
          <p:spPr>
            <a:xfrm>
              <a:off x="276958" y="1352264"/>
              <a:ext cx="503560" cy="50356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5"/>
            <p:cNvSpPr/>
            <p:nvPr/>
          </p:nvSpPr>
          <p:spPr>
            <a:xfrm>
              <a:off x="1057476" y="1146262"/>
              <a:ext cx="9073948" cy="9155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5"/>
            <p:cNvSpPr txBox="1"/>
            <p:nvPr/>
          </p:nvSpPr>
          <p:spPr>
            <a:xfrm>
              <a:off x="1057476" y="1146262"/>
              <a:ext cx="9073948" cy="9155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6875" lIns="96875" spcFirstLastPara="1" rIns="96875" wrap="square" tIns="96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s-CL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2) Planes estáticos (plantillas) + CMS</a:t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5"/>
            <p:cNvSpPr/>
            <p:nvPr/>
          </p:nvSpPr>
          <p:spPr>
            <a:xfrm>
              <a:off x="0" y="2290717"/>
              <a:ext cx="10131425" cy="915564"/>
            </a:xfrm>
            <a:prstGeom prst="roundRect">
              <a:avLst>
                <a:gd fmla="val 10000" name="adj"/>
              </a:avLst>
            </a:prstGeom>
            <a:solidFill>
              <a:srgbClr val="CDD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5"/>
            <p:cNvSpPr/>
            <p:nvPr/>
          </p:nvSpPr>
          <p:spPr>
            <a:xfrm>
              <a:off x="276958" y="2496719"/>
              <a:ext cx="503560" cy="50356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45"/>
            <p:cNvSpPr/>
            <p:nvPr/>
          </p:nvSpPr>
          <p:spPr>
            <a:xfrm>
              <a:off x="1057476" y="2290717"/>
              <a:ext cx="9073948" cy="9155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45"/>
            <p:cNvSpPr txBox="1"/>
            <p:nvPr/>
          </p:nvSpPr>
          <p:spPr>
            <a:xfrm>
              <a:off x="1057476" y="2290717"/>
              <a:ext cx="9073948" cy="9155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6875" lIns="96875" spcFirstLastPara="1" rIns="96875" wrap="square" tIns="96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s-CL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3) Marketplace de entrenadores</a:t>
              </a: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45"/>
            <p:cNvSpPr/>
            <p:nvPr/>
          </p:nvSpPr>
          <p:spPr>
            <a:xfrm>
              <a:off x="0" y="3435173"/>
              <a:ext cx="10131425" cy="915564"/>
            </a:xfrm>
            <a:prstGeom prst="roundRect">
              <a:avLst>
                <a:gd fmla="val 10000" name="adj"/>
              </a:avLst>
            </a:prstGeom>
            <a:solidFill>
              <a:srgbClr val="CDD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5"/>
            <p:cNvSpPr/>
            <p:nvPr/>
          </p:nvSpPr>
          <p:spPr>
            <a:xfrm>
              <a:off x="276958" y="3641175"/>
              <a:ext cx="503560" cy="50356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5"/>
            <p:cNvSpPr/>
            <p:nvPr/>
          </p:nvSpPr>
          <p:spPr>
            <a:xfrm>
              <a:off x="1057476" y="3435173"/>
              <a:ext cx="9073948" cy="9155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5"/>
            <p:cNvSpPr txBox="1"/>
            <p:nvPr/>
          </p:nvSpPr>
          <p:spPr>
            <a:xfrm>
              <a:off x="1057476" y="3435173"/>
              <a:ext cx="9073948" cy="9155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6875" lIns="96875" spcFirstLastPara="1" rIns="96875" wrap="square" tIns="968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s-CL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4) IA open‑source on‑prem (futuro)</a:t>
              </a:r>
              <a:br>
                <a:rPr b="0" i="0" lang="es-CL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9" name="Google Shape;349;p45"/>
          <p:cNvSpPr txBox="1"/>
          <p:nvPr/>
        </p:nvSpPr>
        <p:spPr>
          <a:xfrm>
            <a:off x="685800" y="53789"/>
            <a:ext cx="10131425" cy="874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s-CL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Alternativa Solución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46"/>
          <p:cNvGrpSpPr/>
          <p:nvPr/>
        </p:nvGrpSpPr>
        <p:grpSpPr>
          <a:xfrm>
            <a:off x="1030800" y="1254599"/>
            <a:ext cx="10130400" cy="4348801"/>
            <a:chOff x="0" y="4360"/>
            <a:chExt cx="11308079" cy="4822188"/>
          </a:xfrm>
        </p:grpSpPr>
        <p:sp>
          <p:nvSpPr>
            <p:cNvPr id="355" name="Google Shape;355;p46"/>
            <p:cNvSpPr/>
            <p:nvPr/>
          </p:nvSpPr>
          <p:spPr>
            <a:xfrm>
              <a:off x="0" y="4360"/>
              <a:ext cx="11308079" cy="1013937"/>
            </a:xfrm>
            <a:prstGeom prst="roundRect">
              <a:avLst>
                <a:gd fmla="val 10000" name="adj"/>
              </a:avLst>
            </a:prstGeom>
            <a:solidFill>
              <a:srgbClr val="E1CD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6"/>
            <p:cNvSpPr/>
            <p:nvPr/>
          </p:nvSpPr>
          <p:spPr>
            <a:xfrm>
              <a:off x="251977" y="191781"/>
              <a:ext cx="562591" cy="55886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46"/>
            <p:cNvSpPr/>
            <p:nvPr/>
          </p:nvSpPr>
          <p:spPr>
            <a:xfrm>
              <a:off x="962542" y="4361"/>
              <a:ext cx="10244727" cy="1015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46"/>
            <p:cNvSpPr txBox="1"/>
            <p:nvPr/>
          </p:nvSpPr>
          <p:spPr>
            <a:xfrm>
              <a:off x="962542" y="60299"/>
              <a:ext cx="10244700" cy="101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425" lIns="107425" spcFirstLastPara="1" rIns="107425" wrap="square" tIns="107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IA generativa + Supabase (elegida) </a:t>
              </a:r>
              <a:br>
                <a:rPr b="1" i="0" lang="es-CL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46"/>
            <p:cNvSpPr/>
            <p:nvPr/>
          </p:nvSpPr>
          <p:spPr>
            <a:xfrm>
              <a:off x="0" y="1273356"/>
              <a:ext cx="11308079" cy="1013937"/>
            </a:xfrm>
            <a:prstGeom prst="roundRect">
              <a:avLst>
                <a:gd fmla="val 10000" name="adj"/>
              </a:avLst>
            </a:prstGeom>
            <a:solidFill>
              <a:srgbClr val="E1CD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46"/>
            <p:cNvSpPr/>
            <p:nvPr/>
          </p:nvSpPr>
          <p:spPr>
            <a:xfrm>
              <a:off x="251977" y="1460778"/>
              <a:ext cx="562591" cy="558863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6"/>
            <p:cNvSpPr/>
            <p:nvPr/>
          </p:nvSpPr>
          <p:spPr>
            <a:xfrm>
              <a:off x="962542" y="1273358"/>
              <a:ext cx="10244727" cy="1015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6"/>
            <p:cNvSpPr txBox="1"/>
            <p:nvPr/>
          </p:nvSpPr>
          <p:spPr>
            <a:xfrm>
              <a:off x="962542" y="1318108"/>
              <a:ext cx="10244700" cy="101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425" lIns="107425" spcFirstLastPara="1" rIns="107425" wrap="square" tIns="107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Razones</a:t>
              </a:r>
              <a:b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Privacidad y control de datos (RLS),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rapidez de iteración</a:t>
              </a: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personalización en español y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coste/latencia</a:t>
              </a: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competitivos.</a:t>
              </a:r>
              <a:br>
                <a:rPr b="0" i="0" lang="es-CL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46"/>
            <p:cNvSpPr/>
            <p:nvPr/>
          </p:nvSpPr>
          <p:spPr>
            <a:xfrm>
              <a:off x="0" y="2542354"/>
              <a:ext cx="11308079" cy="1013937"/>
            </a:xfrm>
            <a:prstGeom prst="roundRect">
              <a:avLst>
                <a:gd fmla="val 10000" name="adj"/>
              </a:avLst>
            </a:prstGeom>
            <a:solidFill>
              <a:srgbClr val="E1CD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46"/>
            <p:cNvSpPr/>
            <p:nvPr/>
          </p:nvSpPr>
          <p:spPr>
            <a:xfrm>
              <a:off x="251977" y="2729775"/>
              <a:ext cx="562591" cy="558863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46"/>
            <p:cNvSpPr/>
            <p:nvPr/>
          </p:nvSpPr>
          <p:spPr>
            <a:xfrm>
              <a:off x="962542" y="2542355"/>
              <a:ext cx="10244727" cy="1015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46"/>
            <p:cNvSpPr txBox="1"/>
            <p:nvPr/>
          </p:nvSpPr>
          <p:spPr>
            <a:xfrm>
              <a:off x="962542" y="2464042"/>
              <a:ext cx="10244700" cy="101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425" lIns="107425" spcFirstLastPara="1" rIns="107425" wrap="square" tIns="107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Arquitectura</a:t>
              </a:r>
              <a:b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App (Expo RN) +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IA Gemini 2.5‑flash</a:t>
              </a: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↔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Supabase Auth</a:t>
              </a: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→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Edge Functions</a:t>
              </a: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→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PostgreSQL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6"/>
            <p:cNvSpPr/>
            <p:nvPr/>
          </p:nvSpPr>
          <p:spPr>
            <a:xfrm>
              <a:off x="0" y="3811349"/>
              <a:ext cx="11308079" cy="1013937"/>
            </a:xfrm>
            <a:prstGeom prst="roundRect">
              <a:avLst>
                <a:gd fmla="val 10000" name="adj"/>
              </a:avLst>
            </a:prstGeom>
            <a:solidFill>
              <a:srgbClr val="E1CD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6"/>
            <p:cNvSpPr/>
            <p:nvPr/>
          </p:nvSpPr>
          <p:spPr>
            <a:xfrm>
              <a:off x="251977" y="3998771"/>
              <a:ext cx="562591" cy="558863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46"/>
            <p:cNvSpPr/>
            <p:nvPr/>
          </p:nvSpPr>
          <p:spPr>
            <a:xfrm>
              <a:off x="962542" y="3811351"/>
              <a:ext cx="10244727" cy="1015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46"/>
            <p:cNvSpPr txBox="1"/>
            <p:nvPr/>
          </p:nvSpPr>
          <p:spPr>
            <a:xfrm>
              <a:off x="962542" y="3766601"/>
              <a:ext cx="10244700" cy="101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425" lIns="107425" spcFirstLastPara="1" rIns="107425" wrap="square" tIns="107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Metodología</a:t>
              </a:r>
              <a:br>
                <a:rPr b="0" i="0" lang="es-CL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Scrumban (12–15 semanas, releases quincenales).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1" name="Google Shape;371;p46"/>
          <p:cNvSpPr txBox="1"/>
          <p:nvPr/>
        </p:nvSpPr>
        <p:spPr>
          <a:xfrm>
            <a:off x="685800" y="53789"/>
            <a:ext cx="10131425" cy="874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s-CL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Alternativa Seleccionada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a&#10;&#10;El contenido generado por IA puede ser incorrecto." id="376" name="Google Shape;37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32041"/>
            <a:ext cx="12192000" cy="553322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7"/>
          <p:cNvSpPr txBox="1"/>
          <p:nvPr/>
        </p:nvSpPr>
        <p:spPr>
          <a:xfrm>
            <a:off x="685800" y="53789"/>
            <a:ext cx="10131425" cy="874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s-CL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 de nuestra solución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2" name="Google Shape;382;p48"/>
          <p:cNvGraphicFramePr/>
          <p:nvPr/>
        </p:nvGraphicFramePr>
        <p:xfrm>
          <a:off x="1030287" y="1897029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95B6FF"/>
                    </a:gs>
                    <a:gs pos="35000">
                      <a:srgbClr val="B5CAFF"/>
                    </a:gs>
                    <a:gs pos="100000">
                      <a:srgbClr val="E0EAFF"/>
                    </a:gs>
                  </a:gsLst>
                  <a:lin ang="16200000" scaled="0"/>
                </a:gradFill>
                <a:tableStyleId>{F9EDE768-CCEA-40D2-9991-FEF43693E3C9}</a:tableStyleId>
              </a:tblPr>
              <a:tblGrid>
                <a:gridCol w="4761775"/>
                <a:gridCol w="536965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s-CL" sz="2400" u="none" cap="none" strike="noStrike"/>
                        <a:t>Indicador</a:t>
                      </a:r>
                      <a:endParaRPr b="1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1925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AF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s-CL" sz="2400" u="none" cap="none" strike="noStrike"/>
                        <a:t>Valor</a:t>
                      </a:r>
                      <a:endParaRPr b="1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1925" marL="121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AFE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s-CL" sz="2400" u="none" cap="none" strike="noStrike"/>
                        <a:t>Inversión Inicial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1925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s-CL" sz="2400" u="none" cap="none" strike="noStrike"/>
                        <a:t>$50</a:t>
                      </a:r>
                      <a:r>
                        <a:rPr lang="es-CL" sz="2400"/>
                        <a:t>.</a:t>
                      </a:r>
                      <a:r>
                        <a:rPr b="0" lang="es-CL" sz="2400" u="none" cap="none" strike="noStrike"/>
                        <a:t>000 USD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91450" marL="121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s-CL" sz="2400" u="none" cap="none" strike="noStrike"/>
                        <a:t>VAN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1925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s-CL" sz="2400" u="none" cap="none" strike="noStrike"/>
                        <a:t>$21</a:t>
                      </a:r>
                      <a:r>
                        <a:rPr lang="es-CL" sz="2400"/>
                        <a:t>.</a:t>
                      </a:r>
                      <a:r>
                        <a:rPr b="0" lang="es-CL" sz="2400" u="none" cap="none" strike="noStrike"/>
                        <a:t>320 USD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91450" marL="121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s-CL" sz="2400" u="none" cap="none" strike="noStrike"/>
                        <a:t>TIR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1925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s-CL" sz="2400" u="none" cap="none" strike="noStrike"/>
                        <a:t>25%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91450" marL="121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s-CL" sz="2400" u="none" cap="none" strike="noStrike"/>
                        <a:t>Tasa de Descuento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1925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s-CL" sz="2400" u="none" cap="none" strike="noStrike"/>
                        <a:t>12%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91450" marL="121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s-CL" sz="2400" u="none" cap="none" strike="noStrike"/>
                        <a:t>Payback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1925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s-CL" sz="2400" u="none" cap="none" strike="noStrike"/>
                        <a:t>2</a:t>
                      </a:r>
                      <a:r>
                        <a:rPr lang="es-CL" sz="2400" u="none" cap="none" strike="noStrike"/>
                        <a:t>-</a:t>
                      </a:r>
                      <a:r>
                        <a:rPr b="0" lang="es-CL" sz="2400" u="none" cap="none" strike="noStrike"/>
                        <a:t>4 años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91450" marL="121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s-CL" sz="2400" u="none" cap="none" strike="noStrike"/>
                        <a:t>Horizonte (inferido)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21925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8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s-CL" sz="2400" u="none" cap="none" strike="noStrike"/>
                        <a:t>4-5 años</a:t>
                      </a:r>
                      <a:endParaRPr b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91450" marL="1219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3" name="Google Shape;383;p48"/>
          <p:cNvSpPr txBox="1"/>
          <p:nvPr/>
        </p:nvSpPr>
        <p:spPr>
          <a:xfrm>
            <a:off x="685800" y="53789"/>
            <a:ext cx="10131425" cy="874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s-CL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Indicadores Económicos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/>
          <p:nvPr/>
        </p:nvSpPr>
        <p:spPr>
          <a:xfrm flipH="1">
            <a:off x="0" y="-2"/>
            <a:ext cx="4125976" cy="6858002"/>
          </a:xfrm>
          <a:custGeom>
            <a:rect b="b" l="l" r="r" t="t"/>
            <a:pathLst>
              <a:path extrusionOk="0" h="6858002" w="4125976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8"/>
          <p:cNvSpPr txBox="1"/>
          <p:nvPr>
            <p:ph type="title"/>
          </p:nvPr>
        </p:nvSpPr>
        <p:spPr>
          <a:xfrm>
            <a:off x="118078" y="2375584"/>
            <a:ext cx="3889819" cy="1794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s-CL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COMPARATIVA DE INVERSIÓN Y MEJORA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391" name="Google Shape;391;p8"/>
          <p:cNvGraphicFramePr/>
          <p:nvPr/>
        </p:nvGraphicFramePr>
        <p:xfrm>
          <a:off x="4343401" y="15129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{468D3777-618D-4753-964E-3F47466E9414}</a:tableStyleId>
              </a:tblPr>
              <a:tblGrid>
                <a:gridCol w="1399925"/>
                <a:gridCol w="1527100"/>
                <a:gridCol w="1027550"/>
                <a:gridCol w="1257150"/>
                <a:gridCol w="1293925"/>
                <a:gridCol w="1004925"/>
              </a:tblGrid>
              <a:tr h="97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s-CL" sz="2000" u="none" cap="none" strike="noStrike"/>
                        <a:t>Inversión</a:t>
                      </a:r>
                      <a:endParaRPr sz="12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s-CL" sz="2000" u="none" cap="none" strike="noStrike"/>
                        <a:t>VAN</a:t>
                      </a:r>
                      <a:endParaRPr sz="12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s-CL" sz="2000" u="none" cap="none" strike="noStrike"/>
                        <a:t>TIR</a:t>
                      </a:r>
                      <a:endParaRPr sz="12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s-CL" sz="2000" u="none" cap="none" strike="noStrike"/>
                        <a:t>Payback</a:t>
                      </a:r>
                      <a:endParaRPr sz="12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s-CL" sz="2000" u="none" cap="none" strike="noStrike"/>
                        <a:t>Usuarios Año 1</a:t>
                      </a:r>
                      <a:endParaRPr sz="12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s-CL" sz="2000" u="none" cap="none" strike="noStrike"/>
                        <a:t>Riesgo</a:t>
                      </a:r>
                      <a:endParaRPr sz="12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9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cap="none" strike="noStrike"/>
                        <a:t>$25.700</a:t>
                      </a:r>
                      <a:endParaRPr sz="14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cap="none" strike="noStrike"/>
                        <a:t>- $8.250</a:t>
                      </a:r>
                      <a:endParaRPr sz="14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cap="none" strike="noStrike"/>
                        <a:t>8,5%</a:t>
                      </a:r>
                      <a:endParaRPr sz="14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cap="none" strike="noStrike"/>
                        <a:t>2,8 años</a:t>
                      </a:r>
                      <a:endParaRPr sz="14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cap="none" strike="noStrike"/>
                        <a:t>500</a:t>
                      </a:r>
                      <a:endParaRPr sz="14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cap="none" strike="noStrike"/>
                        <a:t>Alto</a:t>
                      </a:r>
                      <a:endParaRPr sz="14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cap="none" strike="noStrike"/>
                        <a:t>$50.000</a:t>
                      </a:r>
                      <a:endParaRPr sz="14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cap="none" strike="noStrike"/>
                        <a:t>+ $15.280</a:t>
                      </a:r>
                      <a:endParaRPr sz="14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cap="none" strike="noStrike"/>
                        <a:t>22,5%</a:t>
                      </a:r>
                      <a:endParaRPr sz="14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cap="none" strike="noStrike"/>
                        <a:t>2,4 años</a:t>
                      </a:r>
                      <a:endParaRPr sz="14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cap="none" strike="noStrike"/>
                        <a:t>1.500</a:t>
                      </a:r>
                      <a:endParaRPr sz="14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cap="none" strike="noStrike"/>
                        <a:t>Medio</a:t>
                      </a:r>
                      <a:endParaRPr sz="14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9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cap="none" strike="noStrike"/>
                        <a:t>$75.000</a:t>
                      </a:r>
                      <a:endParaRPr sz="14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cap="none" strike="noStrike"/>
                        <a:t>+ $28.500</a:t>
                      </a:r>
                      <a:endParaRPr sz="14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cap="none" strike="noStrike"/>
                        <a:t>31,2%</a:t>
                      </a:r>
                      <a:endParaRPr sz="14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cap="none" strike="noStrike"/>
                        <a:t>2,1 años</a:t>
                      </a:r>
                      <a:endParaRPr sz="14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cap="none" strike="noStrike"/>
                        <a:t>3.000</a:t>
                      </a:r>
                      <a:endParaRPr sz="14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s-CL" sz="2400" u="none" cap="none" strike="noStrike"/>
                        <a:t>Bajo</a:t>
                      </a:r>
                      <a:endParaRPr sz="1400" u="none" cap="none" strike="noStrike"/>
                    </a:p>
                  </a:txBody>
                  <a:tcPr marT="58550" marB="58550" marR="58550" marL="585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6" name="Google Shape;396;p49"/>
          <p:cNvGraphicFramePr/>
          <p:nvPr/>
        </p:nvGraphicFramePr>
        <p:xfrm>
          <a:off x="687387" y="11552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{F9EDE768-CCEA-40D2-9991-FEF43693E3C9}</a:tableStyleId>
              </a:tblPr>
              <a:tblGrid>
                <a:gridCol w="2163450"/>
                <a:gridCol w="2163450"/>
                <a:gridCol w="2163450"/>
                <a:gridCol w="2163450"/>
                <a:gridCol w="2163450"/>
              </a:tblGrid>
              <a:tr h="8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Año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AF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Ingresos estimados (USD)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AF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Costos operativos (USD)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AF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Flujo Neto Anual (USD)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AF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Flujo Acumulado (USD)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AFE3"/>
                    </a:solidFill>
                  </a:tcPr>
                </a:tc>
              </a:tr>
              <a:tr h="8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2100" u="none" cap="none" strike="noStrike"/>
                        <a:t>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- 50.000</a:t>
                      </a:r>
                      <a:r>
                        <a:rPr lang="es-CL" sz="2100" u="none" cap="none" strike="noStrike"/>
                        <a:t> (inversión inicial)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- 50.000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- 50.000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1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2100" u="none" cap="none" strike="noStrike"/>
                        <a:t>20.000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2100" u="none" cap="none" strike="noStrike"/>
                        <a:t>8.000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+ 12.000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- 38.000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2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2100" u="none" cap="none" strike="noStrike"/>
                        <a:t>30.000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2100" u="none" cap="none" strike="noStrike"/>
                        <a:t>8.000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+ 22.000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- 16.000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3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2100" u="none" cap="none" strike="noStrike"/>
                        <a:t>40.000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2100" u="none" cap="none" strike="noStrike"/>
                        <a:t>8.000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+ 32.000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+ 16.000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4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2100" u="none" cap="none" strike="noStrike"/>
                        <a:t>50.000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2100" u="none" cap="none" strike="noStrike"/>
                        <a:t>8.000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+ 42.000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+ 58.000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5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2100" u="none" cap="none" strike="noStrike"/>
                        <a:t>55.000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2100" u="none" cap="none" strike="noStrike"/>
                        <a:t>8.000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+ 47.000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+ 105.000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97" name="Google Shape;397;p49"/>
          <p:cNvSpPr txBox="1"/>
          <p:nvPr/>
        </p:nvSpPr>
        <p:spPr>
          <a:xfrm>
            <a:off x="685800" y="53789"/>
            <a:ext cx="10131425" cy="874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s-CL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Flujo de Caja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50"/>
          <p:cNvGrpSpPr/>
          <p:nvPr/>
        </p:nvGrpSpPr>
        <p:grpSpPr>
          <a:xfrm>
            <a:off x="1030287" y="2035504"/>
            <a:ext cx="10131425" cy="2937967"/>
            <a:chOff x="0" y="707288"/>
            <a:chExt cx="10131425" cy="2937967"/>
          </a:xfrm>
        </p:grpSpPr>
        <p:sp>
          <p:nvSpPr>
            <p:cNvPr id="403" name="Google Shape;403;p50"/>
            <p:cNvSpPr/>
            <p:nvPr/>
          </p:nvSpPr>
          <p:spPr>
            <a:xfrm>
              <a:off x="0" y="707288"/>
              <a:ext cx="10131425" cy="1305763"/>
            </a:xfrm>
            <a:prstGeom prst="roundRect">
              <a:avLst>
                <a:gd fmla="val 10000" name="adj"/>
              </a:avLst>
            </a:prstGeom>
            <a:solidFill>
              <a:srgbClr val="E1CD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50"/>
            <p:cNvSpPr/>
            <p:nvPr/>
          </p:nvSpPr>
          <p:spPr>
            <a:xfrm>
              <a:off x="394993" y="1001085"/>
              <a:ext cx="718169" cy="71816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50"/>
            <p:cNvSpPr/>
            <p:nvPr/>
          </p:nvSpPr>
          <p:spPr>
            <a:xfrm>
              <a:off x="1508156" y="707288"/>
              <a:ext cx="8623268" cy="1305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50"/>
            <p:cNvSpPr txBox="1"/>
            <p:nvPr/>
          </p:nvSpPr>
          <p:spPr>
            <a:xfrm>
              <a:off x="1508156" y="707288"/>
              <a:ext cx="8623268" cy="1305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8175" lIns="138175" spcFirstLastPara="1" rIns="138175" wrap="square" tIns="1381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Presupuesto por fases (confirmado):</a:t>
              </a:r>
              <a:r>
                <a:rPr b="0" i="0" lang="es-CL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s-CL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USD 50.000</a:t>
              </a:r>
              <a:r>
                <a:rPr b="0" i="0" lang="es-CL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→ F1 </a:t>
              </a:r>
              <a:r>
                <a:rPr b="1" i="0" lang="es-CL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USD 15k</a:t>
              </a:r>
              <a:r>
                <a:rPr b="0" i="0" lang="es-CL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F2 </a:t>
              </a:r>
              <a:r>
                <a:rPr b="1" i="0" lang="es-CL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USD 20k</a:t>
              </a:r>
              <a:r>
                <a:rPr b="0" i="0" lang="es-CL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F3 </a:t>
              </a:r>
              <a:r>
                <a:rPr b="1" i="0" lang="es-CL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USD 15k</a:t>
              </a:r>
              <a:r>
                <a:rPr b="0" i="0" lang="es-CL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br>
                <a:rPr b="0" i="0" lang="es-CL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s-CL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Meta de validación (confirmada):</a:t>
              </a:r>
              <a:r>
                <a:rPr b="0" i="0" lang="es-CL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s-CL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500 usuarios = registros</a:t>
              </a:r>
              <a:r>
                <a:rPr b="0" i="0" lang="es-CL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(no suscriptores de pago).</a:t>
              </a:r>
              <a:br>
                <a:rPr b="0" i="0" lang="es-CL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50"/>
            <p:cNvSpPr/>
            <p:nvPr/>
          </p:nvSpPr>
          <p:spPr>
            <a:xfrm>
              <a:off x="0" y="2339492"/>
              <a:ext cx="10131425" cy="1305763"/>
            </a:xfrm>
            <a:prstGeom prst="roundRect">
              <a:avLst>
                <a:gd fmla="val 10000" name="adj"/>
              </a:avLst>
            </a:prstGeom>
            <a:solidFill>
              <a:srgbClr val="E1CD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50"/>
            <p:cNvSpPr/>
            <p:nvPr/>
          </p:nvSpPr>
          <p:spPr>
            <a:xfrm>
              <a:off x="394993" y="2633289"/>
              <a:ext cx="718169" cy="71816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50"/>
            <p:cNvSpPr/>
            <p:nvPr/>
          </p:nvSpPr>
          <p:spPr>
            <a:xfrm>
              <a:off x="1508156" y="2339492"/>
              <a:ext cx="8623268" cy="1305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50"/>
            <p:cNvSpPr txBox="1"/>
            <p:nvPr/>
          </p:nvSpPr>
          <p:spPr>
            <a:xfrm>
              <a:off x="1508156" y="2339492"/>
              <a:ext cx="8623268" cy="1305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8175" lIns="138175" spcFirstLastPara="1" rIns="138175" wrap="square" tIns="1381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CL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KPI:</a:t>
              </a:r>
              <a:r>
                <a:rPr b="0" i="0" lang="es-CL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Activación (&gt;70%), Adherencia (sesiones marcadas ≥70%), NPS, CAC, LTV, Churn, ARPU.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1" name="Google Shape;411;p50"/>
          <p:cNvSpPr txBox="1"/>
          <p:nvPr/>
        </p:nvSpPr>
        <p:spPr>
          <a:xfrm>
            <a:off x="685800" y="53789"/>
            <a:ext cx="10131425" cy="874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s-CL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Indicadores Económicos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6" name="Google Shape;416;p52"/>
          <p:cNvGraphicFramePr/>
          <p:nvPr/>
        </p:nvGraphicFramePr>
        <p:xfrm>
          <a:off x="687000" y="1124152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ED98FF"/>
                    </a:gs>
                    <a:gs pos="35000">
                      <a:srgbClr val="F3B7FF"/>
                    </a:gs>
                    <a:gs pos="100000">
                      <a:srgbClr val="FBE2FF"/>
                    </a:gs>
                  </a:gsLst>
                  <a:lin ang="16200000" scaled="0"/>
                </a:gradFill>
                <a:tableStyleId>{171B7778-A40B-4801-A067-C85D4C86F985}</a:tableStyleId>
              </a:tblPr>
              <a:tblGrid>
                <a:gridCol w="2846850"/>
                <a:gridCol w="1828800"/>
                <a:gridCol w="1815150"/>
                <a:gridCol w="2163600"/>
                <a:gridCol w="2163600"/>
              </a:tblGrid>
              <a:tr h="1604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Escenario (tokens/generación)</a:t>
                      </a:r>
                      <a:endParaRPr sz="2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8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Gemini 2.5-Flash (IA)</a:t>
                      </a:r>
                      <a:endParaRPr sz="2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8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Gemini 2.5-Flash-Lite (IA)</a:t>
                      </a:r>
                      <a:endParaRPr sz="2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8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Total mensual Flash (IA + Supabase $25 + Expo $0)</a:t>
                      </a:r>
                      <a:endParaRPr sz="2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8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Total mensual Flash-Lite (IA + Supabase $25 + Expo $0)</a:t>
                      </a:r>
                      <a:endParaRPr sz="2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8AD9"/>
                    </a:solidFill>
                  </a:tcPr>
                </a:tc>
              </a:tr>
              <a:tr h="113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Lean (600 in / 1.200 out)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2100" u="none" cap="none" strike="noStrike"/>
                        <a:t>$13,78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2100" u="none" cap="none" strike="noStrike"/>
                        <a:t>$2,34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$38,78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$27,34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Típico (1.000 / 2.000)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2100" u="none" cap="none" strike="noStrike"/>
                        <a:t>$22,97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2100" u="none" cap="none" strike="noStrike"/>
                        <a:t>$3,90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$47,97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$28,90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Verbose (2.000 / 4.000)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2100" u="none" cap="none" strike="noStrike"/>
                        <a:t>$45,93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2100" u="none" cap="none" strike="noStrike"/>
                        <a:t>$7,80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$70,93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2100" u="none" cap="none" strike="noStrike"/>
                        <a:t>$32,80</a:t>
                      </a:r>
                      <a:endParaRPr sz="2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7" name="Google Shape;417;p52"/>
          <p:cNvSpPr txBox="1"/>
          <p:nvPr/>
        </p:nvSpPr>
        <p:spPr>
          <a:xfrm>
            <a:off x="685800" y="53789"/>
            <a:ext cx="10131425" cy="874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s-CL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Indicadores Económicos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51"/>
          <p:cNvGrpSpPr/>
          <p:nvPr/>
        </p:nvGrpSpPr>
        <p:grpSpPr>
          <a:xfrm>
            <a:off x="1030288" y="1252728"/>
            <a:ext cx="10131424" cy="4352543"/>
            <a:chOff x="0" y="0"/>
            <a:chExt cx="10131424" cy="4352543"/>
          </a:xfrm>
        </p:grpSpPr>
        <p:sp>
          <p:nvSpPr>
            <p:cNvPr id="423" name="Google Shape;423;p51"/>
            <p:cNvSpPr/>
            <p:nvPr/>
          </p:nvSpPr>
          <p:spPr>
            <a:xfrm>
              <a:off x="0" y="0"/>
              <a:ext cx="8611711" cy="1305763"/>
            </a:xfrm>
            <a:prstGeom prst="roundRect">
              <a:avLst>
                <a:gd fmla="val 10000" name="adj"/>
              </a:avLst>
            </a:prstGeom>
            <a:solidFill>
              <a:srgbClr val="467BCF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51"/>
            <p:cNvSpPr txBox="1"/>
            <p:nvPr/>
          </p:nvSpPr>
          <p:spPr>
            <a:xfrm>
              <a:off x="38244" y="38244"/>
              <a:ext cx="7202691" cy="122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Opción A – Tracción: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CLP </a:t>
              </a:r>
              <a:r>
                <a:rPr b="1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$3.990/mes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| </a:t>
              </a:r>
              <a:r>
                <a:rPr b="1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$39.990/año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| Estudiantes: </a:t>
              </a:r>
              <a:r>
                <a:rPr b="1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$2.990/mes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br>
                <a:rPr b="0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51"/>
            <p:cNvSpPr/>
            <p:nvPr/>
          </p:nvSpPr>
          <p:spPr>
            <a:xfrm>
              <a:off x="759856" y="1523390"/>
              <a:ext cx="8611711" cy="1305763"/>
            </a:xfrm>
            <a:prstGeom prst="roundRect">
              <a:avLst>
                <a:gd fmla="val 10000" name="adj"/>
              </a:avLst>
            </a:prstGeom>
            <a:solidFill>
              <a:srgbClr val="467BCF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51"/>
            <p:cNvSpPr txBox="1"/>
            <p:nvPr/>
          </p:nvSpPr>
          <p:spPr>
            <a:xfrm>
              <a:off x="798100" y="1561634"/>
              <a:ext cx="6926620" cy="122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Opción B – Paridad accesible (recomendada):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CLP </a:t>
              </a:r>
              <a:r>
                <a:rPr b="1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$4.990/mes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| </a:t>
              </a:r>
              <a:r>
                <a:rPr b="1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$49.990/año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(≈2 meses gratis) | Estudiantes: </a:t>
              </a:r>
              <a:r>
                <a:rPr b="1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$3.490/mes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br>
                <a:rPr b="0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51"/>
            <p:cNvSpPr/>
            <p:nvPr/>
          </p:nvSpPr>
          <p:spPr>
            <a:xfrm>
              <a:off x="1519713" y="3046780"/>
              <a:ext cx="8611711" cy="1305763"/>
            </a:xfrm>
            <a:prstGeom prst="roundRect">
              <a:avLst>
                <a:gd fmla="val 10000" name="adj"/>
              </a:avLst>
            </a:prstGeom>
            <a:solidFill>
              <a:srgbClr val="467BCF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51"/>
            <p:cNvSpPr txBox="1"/>
            <p:nvPr/>
          </p:nvSpPr>
          <p:spPr>
            <a:xfrm>
              <a:off x="1557957" y="3085024"/>
              <a:ext cx="6926620" cy="122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Opción C – Premium + Clubes: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CLP </a:t>
              </a:r>
              <a:r>
                <a:rPr b="1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$6.990/mes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| </a:t>
              </a:r>
              <a:r>
                <a:rPr b="1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$69.990/año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| </a:t>
              </a:r>
              <a:r>
                <a:rPr b="1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Plan Club: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$12.990/mes</a:t>
              </a:r>
              <a:r>
                <a:rPr b="0" i="0" lang="es-CL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(5 usuarios, reportes, soporte).</a:t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51"/>
            <p:cNvSpPr/>
            <p:nvPr/>
          </p:nvSpPr>
          <p:spPr>
            <a:xfrm>
              <a:off x="7762965" y="990203"/>
              <a:ext cx="848746" cy="848746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DD5EC">
                <a:alpha val="89411"/>
              </a:srgbClr>
            </a:solidFill>
            <a:ln cap="flat" cmpd="sng" w="25400">
              <a:solidFill>
                <a:srgbClr val="CDD5EC">
                  <a:alpha val="8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51"/>
            <p:cNvSpPr txBox="1"/>
            <p:nvPr/>
          </p:nvSpPr>
          <p:spPr>
            <a:xfrm>
              <a:off x="7953933" y="990203"/>
              <a:ext cx="466810" cy="638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51"/>
            <p:cNvSpPr/>
            <p:nvPr/>
          </p:nvSpPr>
          <p:spPr>
            <a:xfrm>
              <a:off x="8522822" y="2504889"/>
              <a:ext cx="848746" cy="848746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DD5EC">
                <a:alpha val="89411"/>
              </a:srgbClr>
            </a:solidFill>
            <a:ln cap="flat" cmpd="sng" w="25400">
              <a:solidFill>
                <a:srgbClr val="CDD5EC">
                  <a:alpha val="8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51"/>
            <p:cNvSpPr txBox="1"/>
            <p:nvPr/>
          </p:nvSpPr>
          <p:spPr>
            <a:xfrm>
              <a:off x="8713790" y="2504889"/>
              <a:ext cx="466810" cy="638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3" name="Google Shape;433;p51"/>
          <p:cNvSpPr txBox="1"/>
          <p:nvPr/>
        </p:nvSpPr>
        <p:spPr>
          <a:xfrm>
            <a:off x="685800" y="53789"/>
            <a:ext cx="10131425" cy="874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s-CL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Comercial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" name="Google Shape;438;p53"/>
          <p:cNvGrpSpPr/>
          <p:nvPr/>
        </p:nvGrpSpPr>
        <p:grpSpPr>
          <a:xfrm>
            <a:off x="1030288" y="1033865"/>
            <a:ext cx="10131424" cy="4790270"/>
            <a:chOff x="0" y="0"/>
            <a:chExt cx="10131424" cy="4790270"/>
          </a:xfrm>
        </p:grpSpPr>
        <p:sp>
          <p:nvSpPr>
            <p:cNvPr id="439" name="Google Shape;439;p53"/>
            <p:cNvSpPr/>
            <p:nvPr/>
          </p:nvSpPr>
          <p:spPr>
            <a:xfrm>
              <a:off x="0" y="0"/>
              <a:ext cx="8611711" cy="1437081"/>
            </a:xfrm>
            <a:prstGeom prst="roundRect">
              <a:avLst>
                <a:gd fmla="val 10000" name="adj"/>
              </a:avLst>
            </a:prstGeom>
            <a:solidFill>
              <a:srgbClr val="AB3BC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53"/>
            <p:cNvSpPr txBox="1"/>
            <p:nvPr/>
          </p:nvSpPr>
          <p:spPr>
            <a:xfrm>
              <a:off x="42101" y="42085"/>
              <a:ext cx="8569500" cy="135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Fase 1 (Meses 1–2)</a:t>
              </a:r>
              <a:br>
                <a:rPr b="0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 Arquitectura Supabase, RLS y triggers.</a:t>
              </a:r>
              <a:br>
                <a:rPr b="0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 Auth, perfiles y navegación (App.js con gating por sesión).</a:t>
              </a:r>
              <a:br>
                <a:rPr b="0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 Edge generate-plan (prompt + normalizador weeklyBlocks).</a:t>
              </a:r>
              <a:endPara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53"/>
            <p:cNvSpPr/>
            <p:nvPr/>
          </p:nvSpPr>
          <p:spPr>
            <a:xfrm>
              <a:off x="759856" y="1676594"/>
              <a:ext cx="8611711" cy="1437081"/>
            </a:xfrm>
            <a:prstGeom prst="roundRect">
              <a:avLst>
                <a:gd fmla="val 10000" name="adj"/>
              </a:avLst>
            </a:prstGeom>
            <a:solidFill>
              <a:srgbClr val="AB3BC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53"/>
            <p:cNvSpPr txBox="1"/>
            <p:nvPr/>
          </p:nvSpPr>
          <p:spPr>
            <a:xfrm>
              <a:off x="801950" y="1718685"/>
              <a:ext cx="8569500" cy="135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Fase 2 (Meses 3–4)</a:t>
              </a:r>
              <a:br>
                <a:rPr b="0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 save-plan (RPC activate_training_plan).</a:t>
              </a:r>
              <a:br>
                <a:rPr b="0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 Pantallas: Survey, Plan (MVP), Detalle, View/Historial (con eliminar).</a:t>
              </a:r>
              <a:br>
                <a:rPr b="0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 Logs de sesiones (upsert-session-log, get-session-logs).</a:t>
              </a:r>
              <a:endPara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53"/>
            <p:cNvSpPr/>
            <p:nvPr/>
          </p:nvSpPr>
          <p:spPr>
            <a:xfrm>
              <a:off x="1519713" y="3353189"/>
              <a:ext cx="8611711" cy="1437081"/>
            </a:xfrm>
            <a:prstGeom prst="roundRect">
              <a:avLst>
                <a:gd fmla="val 10000" name="adj"/>
              </a:avLst>
            </a:prstGeom>
            <a:solidFill>
              <a:srgbClr val="AB3BC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53"/>
            <p:cNvSpPr txBox="1"/>
            <p:nvPr/>
          </p:nvSpPr>
          <p:spPr>
            <a:xfrm>
              <a:off x="1561798" y="3395285"/>
              <a:ext cx="8569500" cy="135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Fase 3 (Meses 5–6)</a:t>
              </a:r>
              <a:br>
                <a:rPr b="0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 Telemetría/observabilidad y validadores estrictos (Zod/Valibot).</a:t>
              </a:r>
              <a:br>
                <a:rPr b="0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 Beta con clubes, pricing y landing.</a:t>
              </a:r>
              <a:br>
                <a:rPr b="0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CL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- Preparación B2B y multi‑deporte (Smart‑Coach).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1" marL="0" marR="0" rtl="0" algn="l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None/>
              </a:pPr>
              <a:r>
                <a:rPr b="1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Pilotos actuales (confirmado):</a:t>
              </a:r>
              <a:r>
                <a:rPr b="0" i="0" lang="es-CL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deportistas y entusiastas validando contenido.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53"/>
            <p:cNvSpPr/>
            <p:nvPr/>
          </p:nvSpPr>
          <p:spPr>
            <a:xfrm>
              <a:off x="7677608" y="1089786"/>
              <a:ext cx="934102" cy="934102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1CDE7">
                <a:alpha val="89411"/>
              </a:srgbClr>
            </a:solidFill>
            <a:ln cap="flat" cmpd="sng" w="25400">
              <a:solidFill>
                <a:srgbClr val="E1CDE7">
                  <a:alpha val="8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53"/>
            <p:cNvSpPr txBox="1"/>
            <p:nvPr/>
          </p:nvSpPr>
          <p:spPr>
            <a:xfrm>
              <a:off x="7887781" y="1089786"/>
              <a:ext cx="513756" cy="70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53"/>
            <p:cNvSpPr/>
            <p:nvPr/>
          </p:nvSpPr>
          <p:spPr>
            <a:xfrm>
              <a:off x="8437465" y="2756800"/>
              <a:ext cx="934102" cy="934102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E1CDE7">
                <a:alpha val="89411"/>
              </a:srgbClr>
            </a:solidFill>
            <a:ln cap="flat" cmpd="sng" w="25400">
              <a:solidFill>
                <a:srgbClr val="E1CDE7">
                  <a:alpha val="8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53"/>
            <p:cNvSpPr txBox="1"/>
            <p:nvPr/>
          </p:nvSpPr>
          <p:spPr>
            <a:xfrm>
              <a:off x="8647638" y="2756800"/>
              <a:ext cx="513756" cy="70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9" name="Google Shape;449;p53"/>
          <p:cNvSpPr txBox="1"/>
          <p:nvPr/>
        </p:nvSpPr>
        <p:spPr>
          <a:xfrm>
            <a:off x="685800" y="53789"/>
            <a:ext cx="10131425" cy="874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s-CL" sz="4800">
                <a:solidFill>
                  <a:srgbClr val="FFFFFF"/>
                </a:solidFill>
              </a:rPr>
              <a:t>Avance de Proyecto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 flipH="1">
            <a:off x="0" y="-2"/>
            <a:ext cx="4125976" cy="6858002"/>
          </a:xfrm>
          <a:custGeom>
            <a:rect b="b" l="l" r="r" t="t"/>
            <a:pathLst>
              <a:path extrusionOk="0" h="6858002" w="4125976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 txBox="1"/>
          <p:nvPr>
            <p:ph type="title"/>
          </p:nvPr>
        </p:nvSpPr>
        <p:spPr>
          <a:xfrm>
            <a:off x="206477" y="-2"/>
            <a:ext cx="3421626" cy="6646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s-CL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HISTORIAS DE USUARIO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457" name="Google Shape;457;p12"/>
          <p:cNvGraphicFramePr/>
          <p:nvPr/>
        </p:nvGraphicFramePr>
        <p:xfrm>
          <a:off x="4322619" y="16650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{468D3777-618D-4753-964E-3F47466E9414}</a:tableStyleId>
              </a:tblPr>
              <a:tblGrid>
                <a:gridCol w="756475"/>
                <a:gridCol w="1337175"/>
                <a:gridCol w="1046825"/>
                <a:gridCol w="1380650"/>
                <a:gridCol w="1473825"/>
                <a:gridCol w="1553000"/>
              </a:tblGrid>
              <a:tr h="64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s-CL" sz="16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42400" marB="42400" marR="42400" marL="424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s-CL" sz="1600" u="none" cap="none" strike="noStrike"/>
                        <a:t>Módulo</a:t>
                      </a:r>
                      <a:endParaRPr sz="1400" u="none" cap="none" strike="noStrike"/>
                    </a:p>
                  </a:txBody>
                  <a:tcPr marT="42400" marB="42400" marR="42400" marL="424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s-CL" sz="1600" u="none" cap="none" strike="noStrike"/>
                        <a:t>Rol</a:t>
                      </a:r>
                      <a:endParaRPr sz="1400" u="none" cap="none" strike="noStrike"/>
                    </a:p>
                  </a:txBody>
                  <a:tcPr marT="42400" marB="42400" marR="42400" marL="424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s-CL" sz="1600" u="none" cap="none" strike="noStrike"/>
                        <a:t>Objetivo</a:t>
                      </a:r>
                      <a:endParaRPr sz="1400" u="none" cap="none" strike="noStrike"/>
                    </a:p>
                  </a:txBody>
                  <a:tcPr marT="42400" marB="42400" marR="42400" marL="424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s-CL" sz="1600" u="none" cap="none" strike="noStrike"/>
                        <a:t>Beneficio</a:t>
                      </a:r>
                      <a:endParaRPr sz="1400" u="none" cap="none" strike="noStrike"/>
                    </a:p>
                  </a:txBody>
                  <a:tcPr marT="42400" marB="42400" marR="42400" marL="424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s-CL" sz="1600" u="none" cap="none" strike="noStrike"/>
                        <a:t>Criterios de Aceptación</a:t>
                      </a:r>
                      <a:endParaRPr sz="1400" u="none" cap="none" strike="noStrike"/>
                    </a:p>
                  </a:txBody>
                  <a:tcPr marT="42400" marB="42400" marR="42400" marL="424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88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HU-01</a:t>
                      </a:r>
                      <a:endParaRPr sz="1400" u="none" cap="none" strike="noStrike"/>
                    </a:p>
                  </a:txBody>
                  <a:tcPr marT="42400" marB="42400" marR="42400" marL="424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Autenticación</a:t>
                      </a:r>
                      <a:endParaRPr sz="1400" u="none" cap="none" strike="noStrike"/>
                    </a:p>
                  </a:txBody>
                  <a:tcPr marT="42400" marB="42400" marR="42400" marL="424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Nadador</a:t>
                      </a:r>
                      <a:endParaRPr sz="1400" u="none" cap="none" strike="noStrike"/>
                    </a:p>
                  </a:txBody>
                  <a:tcPr marT="42400" marB="42400" marR="42400" marL="424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Registro por correo seguro</a:t>
                      </a:r>
                      <a:endParaRPr sz="1400" u="none" cap="none" strike="noStrike"/>
                    </a:p>
                  </a:txBody>
                  <a:tcPr marT="42400" marB="42400" marR="42400" marL="424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Acceso personalizado SmartSwim</a:t>
                      </a:r>
                      <a:endParaRPr sz="1400" u="none" cap="none" strike="noStrike"/>
                    </a:p>
                  </a:txBody>
                  <a:tcPr marT="42400" marB="42400" marR="42400" marL="424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Validación formato y fuerza contraseña</a:t>
                      </a:r>
                      <a:endParaRPr sz="1400" u="none" cap="none" strike="noStrike"/>
                    </a:p>
                  </a:txBody>
                  <a:tcPr marT="42400" marB="42400" marR="42400" marL="424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HU-05</a:t>
                      </a:r>
                      <a:endParaRPr sz="1400" u="none" cap="none" strike="noStrike"/>
                    </a:p>
                  </a:txBody>
                  <a:tcPr marT="42400" marB="42400" marR="42400" marL="424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Generación IA</a:t>
                      </a:r>
                      <a:endParaRPr sz="1400" u="none" cap="none" strike="noStrike"/>
                    </a:p>
                  </a:txBody>
                  <a:tcPr marT="42400" marB="42400" marR="42400" marL="424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Usuario</a:t>
                      </a:r>
                      <a:endParaRPr sz="1400" u="none" cap="none" strike="noStrike"/>
                    </a:p>
                  </a:txBody>
                  <a:tcPr marT="42400" marB="42400" marR="42400" marL="424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Solicitar plan personalizado</a:t>
                      </a:r>
                      <a:endParaRPr sz="1400" u="none" cap="none" strike="noStrike"/>
                    </a:p>
                  </a:txBody>
                  <a:tcPr marT="42400" marB="42400" marR="42400" marL="424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Propuesta adaptada y validada</a:t>
                      </a:r>
                      <a:endParaRPr sz="1400" u="none" cap="none" strike="noStrike"/>
                    </a:p>
                  </a:txBody>
                  <a:tcPr marT="42400" marB="42400" marR="42400" marL="424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API, IA Gemini-2.5-flash, JSON</a:t>
                      </a:r>
                      <a:endParaRPr sz="1400" u="none" cap="none" strike="noStrike"/>
                    </a:p>
                  </a:txBody>
                  <a:tcPr marT="42400" marB="42400" marR="42400" marL="424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0" y="0"/>
            <a:ext cx="12188825" cy="228421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0" y="0"/>
            <a:ext cx="12192000" cy="2284214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5" name="Google Shape;465;p13"/>
          <p:cNvPicPr preferRelativeResize="0"/>
          <p:nvPr/>
        </p:nvPicPr>
        <p:blipFill rotWithShape="1">
          <a:blip r:embed="rId4">
            <a:alphaModFix/>
          </a:blip>
          <a:srcRect b="66684" l="0" r="0" t="0"/>
          <a:stretch/>
        </p:blipFill>
        <p:spPr>
          <a:xfrm>
            <a:off x="-3175" y="0"/>
            <a:ext cx="12188825" cy="2284214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3"/>
          <p:cNvSpPr txBox="1"/>
          <p:nvPr>
            <p:ph type="title"/>
          </p:nvPr>
        </p:nvSpPr>
        <p:spPr>
          <a:xfrm>
            <a:off x="1028700" y="653142"/>
            <a:ext cx="101314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s-CL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de Uso</a:t>
            </a:r>
            <a:endParaRPr sz="4400">
              <a:solidFill>
                <a:srgbClr val="FFFFFF"/>
              </a:solidFill>
            </a:endParaRPr>
          </a:p>
        </p:txBody>
      </p:sp>
      <p:graphicFrame>
        <p:nvGraphicFramePr>
          <p:cNvPr id="467" name="Google Shape;467;p13"/>
          <p:cNvGraphicFramePr/>
          <p:nvPr/>
        </p:nvGraphicFramePr>
        <p:xfrm>
          <a:off x="399011" y="25254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{468D3777-618D-4753-964E-3F47466E9414}</a:tableStyleId>
              </a:tblPr>
              <a:tblGrid>
                <a:gridCol w="441250"/>
                <a:gridCol w="1320975"/>
                <a:gridCol w="1071700"/>
                <a:gridCol w="1154100"/>
                <a:gridCol w="1793825"/>
                <a:gridCol w="2770175"/>
                <a:gridCol w="1293125"/>
                <a:gridCol w="1476800"/>
              </a:tblGrid>
              <a:tr h="99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s-CL" sz="1600" u="none" cap="none" strike="noStrike"/>
                        <a:t>ID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s-CL" sz="1600" u="none" cap="none" strike="noStrike"/>
                        <a:t>Módulo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s-CL" sz="1600" u="none" cap="none" strike="noStrike"/>
                        <a:t>Actor Principal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s-CL" sz="1600" u="none" cap="none" strike="noStrike"/>
                        <a:t>Propósito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s-CL" sz="1600" u="none" cap="none" strike="noStrike"/>
                        <a:t>Precondiciones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s-CL" sz="1600" u="none" cap="none" strike="noStrike"/>
                        <a:t>Flujo Principal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s-CL" sz="1600" u="none" cap="none" strike="noStrike"/>
                        <a:t>Flujo Alternativo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s-CL" sz="1600" u="none" cap="none" strike="noStrike"/>
                        <a:t>Postcondición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99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CU-03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Autenticación Supabase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Usuario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Autenticar acceso seguro en la app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Credenciales válidas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Email/contraseña → Supabase Auth → retorna JWT → local → requests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Falla: error, recuperación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Usuario autenticado, JWT válido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CU-05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Generación de Planes IA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Usuario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Solicitar plan personalizado con IA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Meta activa registrada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Solicitud → Tarea api → IA Gemini 2.5 flash → Validación → Almacenamiento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Reintentos si IA falla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s-CL" sz="1600" u="none" cap="none" strike="noStrike"/>
                        <a:t>Plan generado y vinculado</a:t>
                      </a:r>
                      <a:endParaRPr sz="1400" u="none" cap="none" strike="noStrike"/>
                    </a:p>
                  </a:txBody>
                  <a:tcPr marT="34650" marB="34650" marR="34650" marL="3465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4"/>
          <p:cNvSpPr txBox="1"/>
          <p:nvPr>
            <p:ph type="title"/>
          </p:nvPr>
        </p:nvSpPr>
        <p:spPr>
          <a:xfrm>
            <a:off x="997352" y="2962507"/>
            <a:ext cx="96354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74074"/>
              <a:buFont typeface="Calibri"/>
              <a:buNone/>
            </a:pPr>
            <a:r>
              <a:rPr lang="es-CL" sz="6000"/>
              <a:t>Pantallazos</a:t>
            </a:r>
            <a:endParaRPr sz="6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54"/>
          <p:cNvSpPr txBox="1"/>
          <p:nvPr>
            <p:ph type="title"/>
          </p:nvPr>
        </p:nvSpPr>
        <p:spPr>
          <a:xfrm>
            <a:off x="-2027950" y="-142900"/>
            <a:ext cx="96354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/>
              <a:t>Pantallazos</a:t>
            </a:r>
            <a:endParaRPr sz="4000"/>
          </a:p>
        </p:txBody>
      </p:sp>
      <p:pic>
        <p:nvPicPr>
          <p:cNvPr descr="Interfaz de usuario gráfica, Aplicación&#10;&#10;El contenido generado por IA puede ser incorrecto." id="480" name="Google Shape;480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90781" y="0"/>
            <a:ext cx="30861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&#10;&#10;El contenido generado por IA puede ser incorrecto." id="481" name="Google Shape;481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55922" y="0"/>
            <a:ext cx="30861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&#10;&#10;El contenido generado por IA puede ser incorrecto." id="482" name="Google Shape;482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78300" y="0"/>
            <a:ext cx="30861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Aplicación&#10;&#10;El contenido generado por IA puede ser incorrecto." id="483" name="Google Shape;483;p5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-1786"/>
            <a:ext cx="30861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5"/>
          <p:cNvSpPr txBox="1"/>
          <p:nvPr>
            <p:ph type="title"/>
          </p:nvPr>
        </p:nvSpPr>
        <p:spPr>
          <a:xfrm>
            <a:off x="-2027950" y="-142900"/>
            <a:ext cx="96354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/>
              <a:t>Pantallazos</a:t>
            </a:r>
            <a:endParaRPr sz="4000"/>
          </a:p>
        </p:txBody>
      </p:sp>
      <p:pic>
        <p:nvPicPr>
          <p:cNvPr id="490" name="Google Shape;490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90781" y="0"/>
            <a:ext cx="30861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55922" y="0"/>
            <a:ext cx="30861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78300" y="0"/>
            <a:ext cx="30861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5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-1786"/>
            <a:ext cx="30861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56"/>
          <p:cNvSpPr txBox="1"/>
          <p:nvPr>
            <p:ph type="title"/>
          </p:nvPr>
        </p:nvSpPr>
        <p:spPr>
          <a:xfrm>
            <a:off x="-2027950" y="-142900"/>
            <a:ext cx="96354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/>
              <a:t>Pantallazos</a:t>
            </a:r>
            <a:endParaRPr sz="4000"/>
          </a:p>
        </p:txBody>
      </p:sp>
      <p:pic>
        <p:nvPicPr>
          <p:cNvPr id="500" name="Google Shape;500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90781" y="0"/>
            <a:ext cx="30861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55922" y="0"/>
            <a:ext cx="30861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78300" y="0"/>
            <a:ext cx="30861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5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-1786"/>
            <a:ext cx="30861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7"/>
          <p:cNvSpPr txBox="1"/>
          <p:nvPr>
            <p:ph type="title"/>
          </p:nvPr>
        </p:nvSpPr>
        <p:spPr>
          <a:xfrm>
            <a:off x="-2027950" y="-142900"/>
            <a:ext cx="96354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/>
              <a:t>Pantallazos</a:t>
            </a:r>
            <a:endParaRPr sz="4000"/>
          </a:p>
        </p:txBody>
      </p:sp>
      <p:pic>
        <p:nvPicPr>
          <p:cNvPr id="510" name="Google Shape;510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90781" y="0"/>
            <a:ext cx="30861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55922" y="0"/>
            <a:ext cx="30861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78300" y="0"/>
            <a:ext cx="30861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-1786"/>
            <a:ext cx="30861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" name="Google Shape;519;p16"/>
          <p:cNvGrpSpPr/>
          <p:nvPr/>
        </p:nvGrpSpPr>
        <p:grpSpPr>
          <a:xfrm>
            <a:off x="936307" y="962820"/>
            <a:ext cx="10319385" cy="4932360"/>
            <a:chOff x="0" y="25475"/>
            <a:chExt cx="10319385" cy="4932360"/>
          </a:xfrm>
        </p:grpSpPr>
        <p:sp>
          <p:nvSpPr>
            <p:cNvPr id="520" name="Google Shape;520;p16"/>
            <p:cNvSpPr/>
            <p:nvPr/>
          </p:nvSpPr>
          <p:spPr>
            <a:xfrm>
              <a:off x="0" y="202595"/>
              <a:ext cx="10319385" cy="11718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rgbClr val="46B2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6"/>
            <p:cNvSpPr txBox="1"/>
            <p:nvPr/>
          </p:nvSpPr>
          <p:spPr>
            <a:xfrm>
              <a:off x="0" y="202595"/>
              <a:ext cx="10319385" cy="11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800875" spcFirstLastPara="1" rIns="800875" wrap="square" tIns="2499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App funcional con IA integrada.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Validación con usuarios reales (clubes).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VAN positivo y TIR atractiva.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515969" y="25475"/>
              <a:ext cx="7223570" cy="354240"/>
            </a:xfrm>
            <a:prstGeom prst="roundRect">
              <a:avLst>
                <a:gd fmla="val 16667" name="adj"/>
              </a:avLst>
            </a:prstGeom>
            <a:solidFill>
              <a:srgbClr val="46B297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6"/>
            <p:cNvSpPr txBox="1"/>
            <p:nvPr/>
          </p:nvSpPr>
          <p:spPr>
            <a:xfrm>
              <a:off x="533262" y="42768"/>
              <a:ext cx="7188984" cy="319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3025" spcFirstLastPara="1" rIns="2730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Logros Esperados: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0" y="1616315"/>
              <a:ext cx="10319385" cy="16632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rgbClr val="46B2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6"/>
            <p:cNvSpPr txBox="1"/>
            <p:nvPr/>
          </p:nvSpPr>
          <p:spPr>
            <a:xfrm>
              <a:off x="0" y="1616315"/>
              <a:ext cx="10319385" cy="166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800875" spcFirstLastPara="1" rIns="800875" wrap="square" tIns="2499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IA en español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Arquitectura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serverless con RLS</a:t>
              </a: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Edge Functions</a:t>
              </a: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modulares 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Enfoque en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seguridad y continuidad</a:t>
              </a: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(chips de intensidades/objetivos, logs y vista de historial).</a:t>
              </a:r>
              <a:b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515969" y="1439195"/>
              <a:ext cx="7223570" cy="354240"/>
            </a:xfrm>
            <a:prstGeom prst="roundRect">
              <a:avLst>
                <a:gd fmla="val 16667" name="adj"/>
              </a:avLst>
            </a:prstGeom>
            <a:solidFill>
              <a:srgbClr val="46B297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6"/>
            <p:cNvSpPr txBox="1"/>
            <p:nvPr/>
          </p:nvSpPr>
          <p:spPr>
            <a:xfrm>
              <a:off x="533262" y="1456488"/>
              <a:ext cx="7188984" cy="319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3025" spcFirstLastPara="1" rIns="2730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Diferenciadores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0" y="3521435"/>
              <a:ext cx="10319385" cy="14364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flat" cmpd="sng" w="25400">
              <a:solidFill>
                <a:srgbClr val="46B2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6"/>
            <p:cNvSpPr txBox="1"/>
            <p:nvPr/>
          </p:nvSpPr>
          <p:spPr>
            <a:xfrm>
              <a:off x="0" y="3521435"/>
              <a:ext cx="10319385" cy="14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800875" spcFirstLastPara="1" rIns="800875" wrap="square" tIns="24992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Escalar pilotos, definir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precio base</a:t>
              </a: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(Opción B) y ejecutar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tests A/B</a:t>
              </a: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con A/C.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Optimizar costos con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Flash‑Lite</a:t>
              </a: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y prompts eficientes; añadir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cache</a:t>
              </a: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por surveyHash.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•"/>
              </a:pP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Integración con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wearables</a:t>
              </a: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y expansión a </a:t>
              </a:r>
              <a:r>
                <a:rPr b="1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Smart‑Coach</a:t>
              </a:r>
              <a:r>
                <a:rPr b="0" i="0" lang="es-CL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(multi‑deporte).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515969" y="3344315"/>
              <a:ext cx="7223570" cy="354240"/>
            </a:xfrm>
            <a:prstGeom prst="roundRect">
              <a:avLst>
                <a:gd fmla="val 16667" name="adj"/>
              </a:avLst>
            </a:prstGeom>
            <a:solidFill>
              <a:srgbClr val="46B297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254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6"/>
            <p:cNvSpPr txBox="1"/>
            <p:nvPr/>
          </p:nvSpPr>
          <p:spPr>
            <a:xfrm>
              <a:off x="533262" y="3361608"/>
              <a:ext cx="7188984" cy="319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3025" spcFirstLastPara="1" rIns="2730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CL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Próximos pasos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2" name="Google Shape;532;p16"/>
          <p:cNvSpPr txBox="1"/>
          <p:nvPr/>
        </p:nvSpPr>
        <p:spPr>
          <a:xfrm>
            <a:off x="685800" y="53789"/>
            <a:ext cx="10131425" cy="874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s-CL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2025-09-15T00:50:22Z</dcterms:created>
  <dc:creator>Patricio Lagos</dc:creator>
</cp:coreProperties>
</file>